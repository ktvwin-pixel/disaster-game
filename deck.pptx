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및 과정 소개
- 오늘 교육: 재난 현장에서 주고받는 말 연습
- 끝에 게임으로 직접 답변 입력, 랭킹 도전
- 마지막 장 QR로 게임 접속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 개요 안내
- 대상: 성인 누구나, 쉬운 말 중심
- 목표 두 가지: 구조대상자 응대, 언론 응대
- 스마트폰 인터넷 연결 미리 확인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 안내
- 유형별 응대 7종: 예시 답변 소리 내어 읽기 + 짝끼리 질문·답변 바꿔 말하기
- 게임 실습 20분: 개인 도전 후 팀 점수 비교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질문: "불이 났을 때 옆 사람이 엘리베이터를 타려 하면 뭐라고 말할까요?"
- 몇 명 답변 듣기
- 안심 → 위험 → 행동 흐름으로 정리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 규칙 안내
- 빨강: 놓치면 위험한 말
- 파랑: 마음을 안정시키는 말, 약속
- 초록: 언론 응대 핵심
- 회색 바탕 진청 글씨: 행동요령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4요소 설명
- 첫마디 공감 → 상대 귀가 열림
- 위험은 짧고 분명하게
- 행동은 장소·방법까지
- 끝은 약속으로 마무리
짝 실습: 예시 문장 소리 내어 읽기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채점 방식 안내
- 시작 파워 6점, 문항마다 오르내림
- 짧은 답, 부정 표현 → 감점
- 통과 기준 8점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언론 응대 원칙
- 모르는 내용: "확인 후 ○시에 알려드리겠습니다"
- 피해자 개인정보 보호 최우선
- 기자 질문 = 시민에게 행동을 알릴 기회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유형별 진행 순서
- 구조대상자 질문 3개: 예시 답변 소리 내어 읽기
- 기자 질문: 게임 문항 60개 수록, 상황별 1개씩 대변인 역할 짝 실습
- 행동요령 5가지: 다 함께 읽기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침수 상황 브리핑 (게임 출동 전 화면과 같은 내용)
- 상황마다 배경 이야기를 한 명이 소리 내어 읽기
- "만날 사람이 지금 가장 걱정하는 일"을 참가자에게 먼저 묻기
- 오늘의 임무 세 가지를 확인한 뒤 다음 쪽 질문으로 넘어가기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침수 구조대상자 응대
- 질문 읽기 → 참가자 답변 먼저 듣기 → 예시 답변 소리 내어 읽기
- 빨강 단어: 위험 · 긴급, 파랑 단어: 안심 · 약속
- 필수 구성 요소 3가지 확인 = 게임 채점 기준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침수 언론 응대 1 · 반지하 거주 주민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침수 언론 응대 2 · 퇴근길 운전자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침수 언론 응대 3 · 계곡 야영객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
- 행동요령 다섯 가지 다 함께 읽기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화재 상황 브리핑 (게임 출동 전 화면과 같은 내용)
- 상황마다 배경 이야기를 한 명이 소리 내어 읽기
- "만날 사람이 지금 가장 걱정하는 일"을 참가자에게 먼저 묻기
- 오늘의 임무 세 가지를 확인한 뒤 다음 쪽 질문으로 넘어가기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화재 구조대상자 응대
- 질문 읽기 → 참가자 답변 먼저 듣기 → 예시 답변 소리 내어 읽기
- 빨강 단어: 위험 · 긴급, 파랑 단어: 안심 · 약속
- 필수 구성 요소 3가지 확인 = 게임 채점 기준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화재 언론 응대 1 · 아파트 15층 주민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화재 언론 응대 2 · 전통시장 상인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화재 언론 응대 3 · 산간 마을 주민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
- 행동요령 다섯 가지 다 함께 읽기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지진 상황 브리핑 (게임 출동 전 화면과 같은 내용)
- 상황마다 배경 이야기를 한 명이 소리 내어 읽기
- "만날 사람이 지금 가장 걱정하는 일"을 참가자에게 먼저 묻기
- 오늘의 임무 세 가지를 확인한 뒤 다음 쪽 질문으로 넘어가기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지진 구조대상자 응대
- 질문 읽기 → 참가자 답변 먼저 듣기 → 예시 답변 소리 내어 읽기
- 빨강 단어: 위험 · 긴급, 파랑 단어: 안심 · 약속
- 필수 구성 요소 3가지 확인 = 게임 채점 기준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지진 언론 응대 1 · 사무실 직장인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지진 언론 응대 2 · 해변 관광객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지진 언론 응대 3 · 초등학교 담임교사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
- 행동요령 다섯 가지 다 함께 읽기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폭발 상황 브리핑 (게임 출동 전 화면과 같은 내용)
- 상황마다 배경 이야기를 한 명이 소리 내어 읽기
- "만날 사람이 지금 가장 걱정하는 일"을 참가자에게 먼저 묻기
- 오늘의 임무 세 가지를 확인한 뒤 다음 쪽 질문으로 넘어가기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폭발 구조대상자 응대
- 질문 읽기 → 참가자 답변 먼저 듣기 → 예시 답변 소리 내어 읽기
- 빨강 단어: 위험 · 긴급, 파랑 단어: 안심 · 약속
- 필수 구성 요소 3가지 확인 = 게임 채점 기준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폭발 언론 응대 1 · 다세대주택 주민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폭발 언론 응대 2 · 산업단지 인근 주민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
- 행동요령 다섯 가지 다 함께 읽기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폭염 상황 브리핑 (게임 출동 전 화면과 같은 내용)
- 상황마다 배경 이야기를 한 명이 소리 내어 읽기
- "만날 사람이 지금 가장 걱정하는 일"을 참가자에게 먼저 묻기
- 오늘의 임무 세 가지를 확인한 뒤 다음 쪽 질문으로 넘어가기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폭염 구조대상자 응대
- 질문 읽기 → 참가자 답변 먼저 듣기 → 예시 답변 소리 내어 읽기
- 빨강 단어: 위험 · 긴급, 파랑 단어: 안심 · 약속
- 필수 구성 요소 3가지 확인 = 게임 채점 기준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폭염 언론 응대 1 · 건설현장 노동자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폭염 언론 응대 2 · 혼자 사는 어르신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폭염 언론 응대 3 · 아이 동반 보호자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
- 행동요령 다섯 가지 다 함께 읽기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건물붕괴 상황 브리핑 (게임 출동 전 화면과 같은 내용)
- 상황마다 배경 이야기를 한 명이 소리 내어 읽기
- "만날 사람이 지금 가장 걱정하는 일"을 참가자에게 먼저 묻기
- 오늘의 임무 세 가지를 확인한 뒤 다음 쪽 질문으로 넘어가기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건물붕괴 구조대상자 응대
- 질문 읽기 → 참가자 답변 먼저 듣기 → 예시 답변 소리 내어 읽기
- 빨강 단어: 위험 · 긴급, 파랑 단어: 안심 · 약속
- 필수 구성 요소 3가지 확인 = 게임 채점 기준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건물붕괴 언론 응대 1 · 매몰 생존자 (전화 연결)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건물붕괴 언론 응대 2 · 현장 목격 시민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건물붕괴 언론 응대 3 · 노후 아파트 주민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
- 행동요령 다섯 가지 다 함께 읽기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감염병확산 상황 브리핑 (게임 출동 전 화면과 같은 내용)
- 상황마다 배경 이야기를 한 명이 소리 내어 읽기
- "만날 사람이 지금 가장 걱정하는 일"을 참가자에게 먼저 묻기
- 오늘의 임무 세 가지를 확인한 뒤 다음 쪽 질문으로 넘어가기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감염병확산 구조대상자 응대
- 질문 읽기 → 참가자 답변 먼저 듣기 → 예시 답변 소리 내어 읽기
- 빨강 단어: 위험 · 긴급, 파랑 단어: 안심 · 약속
- 필수 구성 요소 3가지 확인 = 게임 채점 기준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감염병확산 언론 응대 1 · 의심 증상 직장인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감염병확산 언론 응대 2 · 요양원 입소자 보호자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감염병확산 언론 응대 3 · 동네 단톡방 운영자 현장 (게임 기자 질문 3개)
- 모범 답변 속 수치는 상황판 예시 수치를 인용한 것 (게임에서는 매번 바뀜)
- 짝 실습: 한 명 기자, 한 명 대변인
- 초록 굵은 글씨 = 핵심 포인트에 해당하는 말
- ○ 자리: 실제 확인된 숫자·시각으로 채우기
- 시간이 부족하면 질문 1개만 실습, 나머지는 게임에서 연습
- 행동요령 다섯 가지 다 함께 읽기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실습 진행
- QR 접속 확인 후 시작
- 인증번호: 신청 즉시 자동 발급, 다음에 이어서 하려면 번호 메모
- 핵심 포인트 보기 버튼 활용 가능
- 끝나고 랭킹 화면 함께 보기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
- 다섯 항목 스스로 체크
- 질의응답
- 다음 장 QR로 집에서도 이어서 훈련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접속 안내
- 카메라 앱으로 QR 스캔
- 접속 안 될 때: 주소 직접 입력
- 수료 인사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 CONTENTS LAB · 재난소통 영웅 교육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775808" y="969264"/>
            <a:ext cx="640080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N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 CONTENTS LAB · 재난소통 영웅 교육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image" Target="../media/image-9-6.jpg"/><Relationship Id="rId7" Type="http://schemas.openxmlformats.org/officeDocument/2006/relationships/image" Target="../media/image-9-7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image" Target="../media/image-10-5.jpg"/><Relationship Id="rId6" Type="http://schemas.openxmlformats.org/officeDocument/2006/relationships/image" Target="../media/image-10-6.png"/><Relationship Id="rId7" Type="http://schemas.openxmlformats.org/officeDocument/2006/relationships/image" Target="../media/image-10-7.jp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png"/><Relationship Id="rId5" Type="http://schemas.openxmlformats.org/officeDocument/2006/relationships/image" Target="../media/image-15-5.jpg"/><Relationship Id="rId6" Type="http://schemas.openxmlformats.org/officeDocument/2006/relationships/image" Target="../media/image-15-6.png"/><Relationship Id="rId7" Type="http://schemas.openxmlformats.org/officeDocument/2006/relationships/image" Target="../media/image-15-7.jp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3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png"/><Relationship Id="rId5" Type="http://schemas.openxmlformats.org/officeDocument/2006/relationships/image" Target="../media/image-20-5.jpg"/><Relationship Id="rId6" Type="http://schemas.openxmlformats.org/officeDocument/2006/relationships/image" Target="../media/image-20-6.png"/><Relationship Id="rId7" Type="http://schemas.openxmlformats.org/officeDocument/2006/relationships/image" Target="../media/image-20-7.jp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4" Type="http://schemas.openxmlformats.org/officeDocument/2006/relationships/image" Target="../media/image-25-4.png"/><Relationship Id="rId5" Type="http://schemas.openxmlformats.org/officeDocument/2006/relationships/image" Target="../media/image-25-5.jp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png"/><Relationship Id="rId4" Type="http://schemas.openxmlformats.org/officeDocument/2006/relationships/image" Target="../media/image-26-3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image" Target="../media/image-29-3.jpg"/><Relationship Id="rId4" Type="http://schemas.openxmlformats.org/officeDocument/2006/relationships/image" Target="../media/image-29-4.png"/><Relationship Id="rId5" Type="http://schemas.openxmlformats.org/officeDocument/2006/relationships/image" Target="../media/image-29-5.jpg"/><Relationship Id="rId6" Type="http://schemas.openxmlformats.org/officeDocument/2006/relationships/image" Target="../media/image-29-6.png"/><Relationship Id="rId7" Type="http://schemas.openxmlformats.org/officeDocument/2006/relationships/image" Target="../media/image-29-7.jpg"/><Relationship Id="rId8" Type="http://schemas.openxmlformats.org/officeDocument/2006/relationships/image" Target="../media/image-29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image" Target="../media/image-34-3.jpg"/><Relationship Id="rId4" Type="http://schemas.openxmlformats.org/officeDocument/2006/relationships/image" Target="../media/image-34-4.png"/><Relationship Id="rId5" Type="http://schemas.openxmlformats.org/officeDocument/2006/relationships/image" Target="../media/image-34-5.jpg"/><Relationship Id="rId6" Type="http://schemas.openxmlformats.org/officeDocument/2006/relationships/image" Target="../media/image-34-6.png"/><Relationship Id="rId7" Type="http://schemas.openxmlformats.org/officeDocument/2006/relationships/image" Target="../media/image-34-7.jpg"/><Relationship Id="rId8" Type="http://schemas.openxmlformats.org/officeDocument/2006/relationships/image" Target="../media/image-3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3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image" Target="../media/image-38-8.png"/><Relationship Id="rId9" Type="http://schemas.openxmlformats.org/officeDocument/2006/relationships/image" Target="../media/image-38-9.png"/><Relationship Id="rId10" Type="http://schemas.openxmlformats.org/officeDocument/2006/relationships/image" Target="../media/image-38-10.png"/><Relationship Id="rId11" Type="http://schemas.openxmlformats.org/officeDocument/2006/relationships/image" Target="../media/image-38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image" Target="../media/image-39-3.jpg"/><Relationship Id="rId4" Type="http://schemas.openxmlformats.org/officeDocument/2006/relationships/image" Target="../media/image-39-4.png"/><Relationship Id="rId5" Type="http://schemas.openxmlformats.org/officeDocument/2006/relationships/image" Target="../media/image-39-5.jpg"/><Relationship Id="rId6" Type="http://schemas.openxmlformats.org/officeDocument/2006/relationships/image" Target="../media/image-39-6.png"/><Relationship Id="rId7" Type="http://schemas.openxmlformats.org/officeDocument/2006/relationships/image" Target="../media/image-39-7.jpg"/><Relationship Id="rId8" Type="http://schemas.openxmlformats.org/officeDocument/2006/relationships/image" Target="../media/image-39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40-2.jpg"/><Relationship Id="rId3" Type="http://schemas.openxmlformats.org/officeDocument/2006/relationships/image" Target="../media/image-40-3.png"/><Relationship Id="rId4" Type="http://schemas.openxmlformats.org/officeDocument/2006/relationships/image" Target="../media/image-40-3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jp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image" Target="../media/image-4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image" Target="../media/image-43-7.png"/><Relationship Id="rId8" Type="http://schemas.openxmlformats.org/officeDocument/2006/relationships/image" Target="../media/image-43-8.png"/><Relationship Id="rId9" Type="http://schemas.openxmlformats.org/officeDocument/2006/relationships/image" Target="../media/image-43-9.png"/><Relationship Id="rId10" Type="http://schemas.openxmlformats.org/officeDocument/2006/relationships/image" Target="../media/image-43-10.png"/><Relationship Id="rId11" Type="http://schemas.openxmlformats.org/officeDocument/2006/relationships/image" Target="../media/image-43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ktvwin-pixel.github.io/disaster-game/" TargetMode="External"/><Relationship Id="rId1" Type="http://schemas.openxmlformats.org/officeDocument/2006/relationships/image" Target="../media/image-46-1.jpg"/><Relationship Id="rId3" Type="http://schemas.openxmlformats.org/officeDocument/2006/relationships/image" Target="../media/image-46-2.png"/><Relationship Id="rId4" Type="http://schemas.openxmlformats.org/officeDocument/2006/relationships/image" Target="../media/image-46-3.png"/><Relationship Id="rId5" Type="http://schemas.openxmlformats.org/officeDocument/2006/relationships/image" Target="../media/image-46-4.png"/><Relationship Id="rId6" Type="http://schemas.openxmlformats.org/officeDocument/2006/relationships/image" Target="../media/image-46-5.png"/><Relationship Id="rId7" Type="http://schemas.openxmlformats.org/officeDocument/2006/relationships/image" Target="../media/image-46-6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bg_fi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9">
              <a:alpha val="70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b="1" spc="600" kern="0" dirty="0">
                <a:solidFill>
                  <a:srgbClr val="C9D1E6"/>
                </a:solidFill>
              </a:rPr>
              <a:t>KOREA CONTENTS LAB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4173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B020"/>
                </a:solidFill>
              </a:rPr>
              <a:t>재난 대응 소통 교육 · 성인 대상 2시간 과정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</a:rPr>
              <a:t>재난소통</a:t>
            </a:r>
            <a:endParaRPr lang="en-US" sz="6000" dirty="0"/>
          </a:p>
          <a:p>
            <a:pPr indent="0" marL="0" eaLnBrk="0" latinLnBrk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B020"/>
                </a:solidFill>
              </a:rPr>
              <a:t>영웅 훈련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1605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E3E8F4"/>
                </a:solidFill>
              </a:rPr>
              <a:t>구조대상자 질문 · 언론 질문 · 예시 답변 · 행동요령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63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AEB8D0"/>
                </a:solidFill>
              </a:rPr>
              <a:t>게임으로 익히고, 현장에서 바로 쓰는 말</a:t>
            </a:r>
            <a:endParaRPr lang="en-US" sz="1600" dirty="0"/>
          </a:p>
        </p:txBody>
      </p:sp>
      <p:pic>
        <p:nvPicPr>
          <p:cNvPr id="9" name="Image 1" descr="/home/claude/edu/img/me_lime_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169664"/>
            <a:ext cx="1188720" cy="1545336"/>
          </a:xfrm>
          <a:prstGeom prst="rect">
            <a:avLst/>
          </a:prstGeom>
        </p:spPr>
      </p:pic>
      <p:pic>
        <p:nvPicPr>
          <p:cNvPr id="10" name="Image 2" descr="/home/claude/edu/img/me_fire_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4169664"/>
            <a:ext cx="1188720" cy="1545336"/>
          </a:xfrm>
          <a:prstGeom prst="rect">
            <a:avLst/>
          </a:prstGeom>
        </p:spPr>
      </p:pic>
      <p:pic>
        <p:nvPicPr>
          <p:cNvPr id="11" name="Image 3" descr="/home/claude/edu/img/me_police_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6" y="4169664"/>
            <a:ext cx="1188720" cy="1545336"/>
          </a:xfrm>
          <a:prstGeom prst="rect">
            <a:avLst/>
          </a:prstGeom>
        </p:spPr>
      </p:pic>
      <p:pic>
        <p:nvPicPr>
          <p:cNvPr id="12" name="Image 4" descr="/home/claude/edu/img/me_gov_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7544" y="4169664"/>
            <a:ext cx="1188720" cy="1545336"/>
          </a:xfrm>
          <a:prstGeom prst="rect">
            <a:avLst/>
          </a:prstGeom>
        </p:spPr>
      </p:pic>
      <p:pic>
        <p:nvPicPr>
          <p:cNvPr id="13" name="Image 5" descr="/home/claude/edu/img/me_blue_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0232" y="4169664"/>
            <a:ext cx="1188720" cy="1545336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731520" y="6172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3A6"/>
                </a:solidFill>
              </a:rPr>
              <a:t>© 2026 KOREA CONTENTS LAB.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개요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703320" cy="2240280"/>
          </a:xfrm>
          <a:prstGeom prst="roundRect">
            <a:avLst>
              <a:gd name="adj" fmla="val 4898"/>
            </a:avLst>
          </a:prstGeom>
          <a:solidFill>
            <a:srgbClr val="F6F7FA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91640"/>
            <a:ext cx="685800" cy="685800"/>
          </a:xfrm>
          <a:prstGeom prst="ellipse">
            <a:avLst/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F2433"/>
                </a:solidFill>
              </a:rPr>
              <a:t>교육 대상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14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성인 누구나</a:t>
            </a:r>
            <a:endParaRPr lang="en-US" sz="1500" dirty="0"/>
          </a:p>
          <a:p>
            <a:pPr indent="0" marL="0" eaLnBrk="0" latinLnBrk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민방위 대원 · 공무원 · 자원봉사자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34840" y="1417320"/>
            <a:ext cx="3703320" cy="2240280"/>
          </a:xfrm>
          <a:prstGeom prst="roundRect">
            <a:avLst>
              <a:gd name="adj" fmla="val 4898"/>
            </a:avLst>
          </a:prstGeom>
          <a:solidFill>
            <a:srgbClr val="F6F7FA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691640"/>
            <a:ext cx="685800" cy="6858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691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F2433"/>
                </a:solidFill>
              </a:rPr>
              <a:t>교육 목표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2514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구조대상자에게 쉬운 말로 답하기</a:t>
            </a:r>
            <a:endParaRPr lang="en-US" sz="1500" dirty="0"/>
          </a:p>
          <a:p>
            <a:pPr indent="0" marL="0" eaLnBrk="0" latinLnBrk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기자에게 확인된 사실로 답하기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3931920"/>
            <a:ext cx="3703320" cy="2240280"/>
          </a:xfrm>
          <a:prstGeom prst="roundRect">
            <a:avLst>
              <a:gd name="adj" fmla="val 4898"/>
            </a:avLst>
          </a:prstGeom>
          <a:solidFill>
            <a:srgbClr val="F6F7FA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420624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3776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206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F2433"/>
                </a:solidFill>
              </a:rPr>
              <a:t>준비물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5029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스마트폰 (인터넷 연결)</a:t>
            </a:r>
            <a:endParaRPr lang="en-US" sz="1500" dirty="0"/>
          </a:p>
          <a:p>
            <a:pPr indent="0" marL="0" eaLnBrk="0" latinLnBrk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필기도구, 이 교육자료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434840" y="3931920"/>
            <a:ext cx="3703320" cy="2240280"/>
          </a:xfrm>
          <a:prstGeom prst="roundRect">
            <a:avLst>
              <a:gd name="adj" fmla="val 4898"/>
            </a:avLst>
          </a:prstGeom>
          <a:solidFill>
            <a:srgbClr val="F6F7FA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09160" y="420624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610" y="437769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77840" y="4206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F2433"/>
                </a:solidFill>
              </a:rPr>
              <a:t>진행 방식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4709160" y="5029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설명 → 예시 답변 소리 내어 읽기</a:t>
            </a:r>
            <a:endParaRPr lang="en-US" sz="1500" dirty="0"/>
          </a:p>
          <a:p>
            <a:pPr indent="0" marL="0" eaLnBrk="0" latinLnBrk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→ 짝 실습 → 게임으로 직접 입력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458200" y="1417320"/>
            <a:ext cx="3273552" cy="4754880"/>
          </a:xfrm>
          <a:prstGeom prst="roundRect">
            <a:avLst>
              <a:gd name="adj" fmla="val 4190"/>
            </a:avLst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pic>
        <p:nvPicPr>
          <p:cNvPr id="24" name="Image 4" descr="/home/claude/edu/img/scr_setup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41080" y="1554480"/>
            <a:ext cx="2240280" cy="4480560"/>
          </a:xfrm>
          <a:prstGeom prst="rect">
            <a:avLst/>
          </a:prstGeom>
        </p:spPr>
      </p:pic>
      <p:pic>
        <p:nvPicPr>
          <p:cNvPr id="25" name="Image 5" descr="/home/claude/edu/img/me_lime_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0" y="4389120"/>
            <a:ext cx="914400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 교육 흐름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965192"/>
                <a:gridCol w="2286000"/>
              </a:tblGrid>
              <a:tr h="530352"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00:00–00:10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도입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 한마디가 생명을 지키는 이유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00:10–00:25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원칙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구조대상자 답변 4요소 ·</a:t>
                      </a:r>
                      <a:b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</a:b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언론 답변 4요소 · 색 신호 읽기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00:25–01:00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유형별 응대 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침수 · 화재 · 지진 · 폭발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따라 읽기 · 짝 실습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5B647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01:00–01:10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5B647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휴식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E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01:10–01:35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유형별 응대 ②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폭염 · 건물붕괴 · 감염병확산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따라 읽기 · 짝 실습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01:35–01:55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게임 실습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재난소통 영웅 관문 도전 · 랭킹 등록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 · 팀 실습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01:55–02:00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b="1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 점검 · 질의응답 · QR 접속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 eaLnBrk="0" latinLnBrk="0">
                        <a:buNone/>
                      </a:pPr>
                      <a:r>
                        <a:rPr lang="en-US" sz="1500" dirty="0">
                          <a:solidFill>
                            <a:srgbClr val="1F24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토의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035040"/>
            <a:ext cx="256032" cy="2560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5989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게임 실습 20분 · 휴식 10분 포함, 총 120분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한마디가 행동을 바꿉니다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337560" cy="4663440"/>
          </a:xfrm>
          <a:prstGeom prst="roundRect">
            <a:avLst>
              <a:gd name="adj" fmla="val 411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4" name="Image 0" descr="/home/claude/edu/img/npc_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180" y="1965960"/>
            <a:ext cx="1371600" cy="1783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62828"/>
                </a:solidFill>
              </a:rPr>
              <a:t>불안한 시민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4348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433"/>
                </a:solidFill>
              </a:rPr>
              <a:t>"어떻게 해요?" 질문 폭주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433"/>
                </a:solidFill>
              </a:rPr>
              <a:t>잘못된 판단 → 위험 행동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433"/>
                </a:solidFill>
              </a:rPr>
              <a:t>엘리베이터 ·</a:t>
            </a:r>
            <a:br>
              <a:rPr lang="en-US" sz="1500" dirty="0">
                <a:solidFill>
                  <a:srgbClr val="1F2433"/>
                </a:solidFill>
              </a:rPr>
            </a:br>
            <a:r>
              <a:rPr lang="en-US" sz="1500" dirty="0">
                <a:solidFill>
                  <a:srgbClr val="1F2433"/>
                </a:solidFill>
              </a:rPr>
              <a:t>짐 챙기기 · 현장 접근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3520440"/>
            <a:ext cx="320040" cy="320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25696" y="1417320"/>
            <a:ext cx="3337560" cy="4663440"/>
          </a:xfrm>
          <a:prstGeom prst="roundRect">
            <a:avLst>
              <a:gd name="adj" fmla="val 4110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9" name="Image 2" descr="/home/claude/edu/img/me_fire_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1965960"/>
            <a:ext cx="1371600" cy="1783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608576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565C0"/>
                </a:solidFill>
              </a:rPr>
              <a:t>정확한 한 문장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4654296" y="44348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433"/>
                </a:solidFill>
              </a:rPr>
              <a:t>안심 한마디로 시작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433"/>
                </a:solidFill>
              </a:rPr>
              <a:t>위험은 분명하게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433"/>
                </a:solidFill>
              </a:rPr>
              <a:t>할 일은 구체적으로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520440"/>
            <a:ext cx="320040" cy="3200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394192" y="1417320"/>
            <a:ext cx="3337560" cy="4663440"/>
          </a:xfrm>
          <a:prstGeom prst="roundRect">
            <a:avLst>
              <a:gd name="adj" fmla="val 4110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pic>
        <p:nvPicPr>
          <p:cNvPr id="14" name="Image 4" descr="/home/claude/edu/img/npcgood_h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172" y="1965960"/>
            <a:ext cx="1371600" cy="17830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577072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생명을 지키는 행동</a:t>
            </a:r>
            <a:endParaRPr lang="en-US" sz="2000" dirty="0"/>
          </a:p>
        </p:txBody>
      </p:sp>
      <p:sp>
        <p:nvSpPr>
          <p:cNvPr id="16" name="Text 9"/>
          <p:cNvSpPr txBox="1"/>
          <p:nvPr/>
        </p:nvSpPr>
        <p:spPr>
          <a:xfrm>
            <a:off x="8622792" y="44348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433"/>
                </a:solidFill>
              </a:rPr>
              <a:t>계단으로 대피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433"/>
                </a:solidFill>
              </a:rPr>
              <a:t>119 신고 · 위치 알림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433"/>
                </a:solidFill>
              </a:rPr>
              <a:t>안전 확인 뒤 다음 행동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교육자료 색 신호 읽기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15184" cy="4663440"/>
          </a:xfrm>
          <a:prstGeom prst="roundRect">
            <a:avLst>
              <a:gd name="adj" fmla="val 5245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1737360"/>
            <a:ext cx="822960" cy="8229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19431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697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C62828"/>
                </a:solidFill>
              </a:rPr>
              <a:t>빨강 · 중요 · 긴급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918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정확한 확인이 필요한 말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위험을 막는 핵심 단어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4480560"/>
            <a:ext cx="224942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52628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C62828"/>
                </a:solidFill>
              </a:rPr>
              <a:t>지금 바로</a:t>
            </a:r>
            <a:pPr algn="ctr" indent="0" marL="0">
              <a:buNone/>
            </a:pPr>
            <a:r>
              <a:rPr lang="en-US" sz="1500" dirty="0">
                <a:solidFill>
                  <a:srgbClr val="1F2433"/>
                </a:solidFill>
              </a:rPr>
              <a:t> ·</a:t>
            </a:r>
            <a:br>
              <a:rPr lang="en-US" sz="1500" dirty="0">
                <a:solidFill>
                  <a:srgbClr val="1F2433"/>
                </a:solidFill>
              </a:rPr>
            </a:br>
            <a:r>
              <a:rPr lang="en-US" sz="1500" dirty="0">
                <a:solidFill>
                  <a:srgbClr val="1F2433"/>
                </a:solidFill>
              </a:rPr>
              <a:t/>
            </a:r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절대</a:t>
            </a:r>
            <a:pPr algn="ctr" indent="0" marL="0">
              <a:buNone/>
            </a:pPr>
            <a:r>
              <a:rPr lang="en-US" sz="1500" dirty="0">
                <a:solidFill>
                  <a:srgbClr val="1F2433"/>
                </a:solidFill>
              </a:rPr>
              <a:t> · </a:t>
            </a:r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119 신고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37560" y="1417320"/>
            <a:ext cx="2615184" cy="4663440"/>
          </a:xfrm>
          <a:prstGeom prst="roundRect">
            <a:avLst>
              <a:gd name="adj" fmla="val 5245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33672" y="1737360"/>
            <a:ext cx="822960" cy="8229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19431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697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565C0"/>
                </a:solidFill>
              </a:rPr>
              <a:t>파랑 · 안심 · 약속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2918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구조대상자와 대화 속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긍정 · 안정 · 약속 표현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520440" y="4480560"/>
            <a:ext cx="224942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611880" y="452628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565C0"/>
                </a:solidFill>
              </a:rPr>
              <a:t>혼자가 아니세요</a:t>
            </a:r>
            <a:pPr algn="ctr" indent="0" marL="0">
              <a:buNone/>
            </a:pPr>
            <a:r>
              <a:rPr lang="en-US" sz="1500" dirty="0">
                <a:solidFill>
                  <a:srgbClr val="1F2433"/>
                </a:solidFill>
              </a:rPr>
              <a:t> ·</a:t>
            </a:r>
            <a:br>
              <a:rPr lang="en-US" sz="1500" dirty="0">
                <a:solidFill>
                  <a:srgbClr val="1F2433"/>
                </a:solidFill>
              </a:rPr>
            </a:br>
            <a:r>
              <a:rPr lang="en-US" sz="1500" dirty="0">
                <a:solidFill>
                  <a:srgbClr val="1F2433"/>
                </a:solidFill>
              </a:rPr>
              <a:t/>
            </a:r>
            <a:pPr algn="ctr" indent="0" marL="0">
              <a:buNone/>
            </a:pPr>
            <a:r>
              <a:rPr lang="en-US" sz="1500" b="1" dirty="0">
                <a:solidFill>
                  <a:srgbClr val="1565C0"/>
                </a:solidFill>
              </a:rPr>
              <a:t>제가 도와드릴게요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2615184" cy="4663440"/>
          </a:xfrm>
          <a:prstGeom prst="roundRect">
            <a:avLst>
              <a:gd name="adj" fmla="val 524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14032" y="173736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19431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5080" y="2697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E7D32"/>
                </a:solidFill>
              </a:rPr>
              <a:t>초록 · 언론 응대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32918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기자 질문에 전하는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핵심 안내와 확인된 사실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400800" y="4480560"/>
            <a:ext cx="224942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92240" y="452628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E7D32"/>
                </a:solidFill>
              </a:rPr>
              <a:t>확인된 내용만</a:t>
            </a:r>
            <a:pPr algn="ctr" indent="0" marL="0">
              <a:buNone/>
            </a:pPr>
            <a:r>
              <a:rPr lang="en-US" sz="1500" dirty="0">
                <a:solidFill>
                  <a:srgbClr val="1F2433"/>
                </a:solidFill>
              </a:rPr>
              <a:t> ·</a:t>
            </a:r>
            <a:br>
              <a:rPr lang="en-US" sz="1500" dirty="0">
                <a:solidFill>
                  <a:srgbClr val="1F2433"/>
                </a:solidFill>
              </a:rPr>
            </a:br>
            <a:r>
              <a:rPr lang="en-US" sz="1500" dirty="0">
                <a:solidFill>
                  <a:srgbClr val="1F2433"/>
                </a:solidFill>
              </a:rPr>
              <a:t/>
            </a:r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다음 브리핑 ○시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9098280" y="1417320"/>
            <a:ext cx="2615184" cy="4663440"/>
          </a:xfrm>
          <a:prstGeom prst="roundRect">
            <a:avLst>
              <a:gd name="adj" fmla="val 5245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994392" y="1737360"/>
            <a:ext cx="822960" cy="8229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132" y="194310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35440" y="26974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B2A4A"/>
                </a:solidFill>
              </a:rPr>
              <a:t>회색 바탕 · 행동요령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281160" y="329184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모두가 기억할 행동</a:t>
            </a:r>
            <a:endParaRPr lang="en-US" sz="15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F2433"/>
                </a:solidFill>
              </a:rPr>
              <a:t>진청색 굵은 글씨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9281160" y="4480560"/>
            <a:ext cx="2249424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372600" y="4526280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A4A"/>
                </a:solidFill>
              </a:rPr>
              <a:t>엘리베이터 금지 →</a:t>
            </a:r>
            <a:br>
              <a:rPr lang="en-US" sz="1500" b="1" dirty="0">
                <a:solidFill>
                  <a:srgbClr val="1B2A4A"/>
                </a:solidFill>
              </a:rPr>
            </a:br>
            <a:r>
              <a:rPr lang="en-US" sz="1500" b="1" dirty="0">
                <a:solidFill>
                  <a:srgbClr val="1B2A4A"/>
                </a:solidFill>
              </a:rPr>
              <a:t>계단으로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구조대상자 답변 필수 구성 요소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40180" y="160020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401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565C0"/>
                </a:solidFill>
              </a:rPr>
              <a:t>공감 · 안심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565C0"/>
                </a:solidFill>
              </a:rPr>
              <a:t>"제가 함께 있어요"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46704" y="13716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9684" y="16002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296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83864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62828"/>
                </a:solidFill>
              </a:rPr>
              <a:t>위험 알림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C62828"/>
                </a:solidFill>
              </a:rPr>
              <a:t>"물이 금방 차오릅니다"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3716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19188" y="160020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191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구체 행동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B2A4A"/>
                </a:solidFill>
              </a:rPr>
              <a:t>"짐은 두고</a:t>
            </a:r>
            <a:br>
              <a:rPr lang="en-US" sz="1500" b="1" dirty="0">
                <a:solidFill>
                  <a:srgbClr val="1B2A4A"/>
                </a:solidFill>
              </a:rPr>
            </a:br>
            <a:r>
              <a:rPr lang="en-US" sz="1500" b="1" dirty="0">
                <a:solidFill>
                  <a:srgbClr val="1B2A4A"/>
                </a:solidFill>
              </a:rPr>
              <a:t>계단으로 지상까지"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25712" y="13716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8692" y="160020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0869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62872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565C0"/>
                </a:solidFill>
              </a:rPr>
              <a:t>약속 · 연결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62872" y="28346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565C0"/>
                </a:solidFill>
              </a:rPr>
              <a:t>"대피소까지</a:t>
            </a:r>
            <a:br>
              <a:rPr lang="en-US" sz="1500" b="1" dirty="0">
                <a:solidFill>
                  <a:srgbClr val="1565C0"/>
                </a:solidFill>
              </a:rPr>
            </a:br>
            <a:r>
              <a:rPr lang="en-US" sz="1500" b="1" dirty="0">
                <a:solidFill>
                  <a:srgbClr val="1565C0"/>
                </a:solidFill>
              </a:rPr>
              <a:t>모셔다 드릴게요"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7863840" cy="2240280"/>
          </a:xfrm>
          <a:prstGeom prst="roundRect">
            <a:avLst>
              <a:gd name="adj" fmla="val 4898"/>
            </a:avLst>
          </a:prstGeom>
          <a:solidFill>
            <a:srgbClr val="F6F7FA"/>
          </a:solidFill>
          <a:ln w="12700">
            <a:solidFill>
              <a:srgbClr val="DDE1E8"/>
            </a:solidFill>
            <a:prstDash val="solid"/>
          </a:ln>
        </p:spPr>
      </p:sp>
      <p:pic>
        <p:nvPicPr>
          <p:cNvPr id="24" name="Image 0" descr="/home/claude/edu/img/npc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498848"/>
            <a:ext cx="1005840" cy="130759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920240" y="4114800"/>
            <a:ext cx="6217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B6478"/>
                </a:solidFill>
              </a:rPr>
              <a:t>네 요소를 한 번에</a:t>
            </a:r>
            <a:endParaRPr lang="en-US" sz="1400" dirty="0"/>
          </a:p>
          <a:p>
            <a:pPr indent="0" marL="0" eaLnBrk="0" latinLnBrk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565C0"/>
                </a:solidFill>
              </a:rPr>
              <a:t>어르신, 제가 함께 있어요.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433"/>
                </a:solidFill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C62828"/>
                </a:solidFill>
              </a:rPr>
              <a:t>물이 금방 차오릅니다.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433"/>
                </a:solidFill>
              </a:rPr>
              <a:t/>
            </a:r>
            <a:br>
              <a:rPr lang="en-US" sz="1700" dirty="0">
                <a:solidFill>
                  <a:srgbClr val="1F2433"/>
                </a:solidFill>
              </a:rPr>
            </a:br>
            <a:r>
              <a:rPr lang="en-US" sz="1700" dirty="0">
                <a:solidFill>
                  <a:srgbClr val="1F2433"/>
                </a:solidFill>
              </a:rPr>
              <a:t/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B2A4A"/>
                </a:solidFill>
              </a:rPr>
              <a:t>짐은 두고 계단으로 지상까지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F2433"/>
                </a:solidFill>
              </a:rPr>
              <a:t> 나가요.</a:t>
            </a:r>
            <a:br>
              <a:rPr lang="en-US" sz="1700" dirty="0">
                <a:solidFill>
                  <a:srgbClr val="1F2433"/>
                </a:solidFill>
              </a:rPr>
            </a:br>
            <a:r>
              <a:rPr lang="en-US" sz="1700" dirty="0">
                <a:solidFill>
                  <a:srgbClr val="1F2433"/>
                </a:solidFill>
              </a:rPr>
              <a:t/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565C0"/>
                </a:solidFill>
              </a:rPr>
              <a:t>대피소까지 제가 모셔다 드릴게요.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595360" y="3931920"/>
            <a:ext cx="3139135" cy="2240280"/>
          </a:xfrm>
          <a:prstGeom prst="roundRect">
            <a:avLst>
              <a:gd name="adj" fmla="val 4898"/>
            </a:avLst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823960" y="4114800"/>
            <a:ext cx="2681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B020"/>
                </a:solidFill>
              </a:rPr>
              <a:t>쉬운 말 3원칙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4617720"/>
            <a:ext cx="26819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짧게 · 한 문장 한 가지</a:t>
            </a:r>
            <a:endParaRPr lang="en-US" sz="1500" dirty="0"/>
          </a:p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숫자 ·</a:t>
            </a:r>
            <a:br>
              <a:rPr lang="en-US" sz="1500" dirty="0">
                <a:solidFill>
                  <a:srgbClr val="FFFFFF"/>
                </a:solidFill>
              </a:rPr>
            </a:br>
            <a:r>
              <a:rPr lang="en-US" sz="1500" dirty="0">
                <a:solidFill>
                  <a:srgbClr val="FFFFFF"/>
                </a:solidFill>
              </a:rPr>
              <a:t>장소까지 구체적으로</a:t>
            </a:r>
            <a:endParaRPr lang="en-US" sz="1500" dirty="0"/>
          </a:p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행동과 이유를 함께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채점 기준 · 소통 파워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4" name="Image 0" descr="/home/claude/edu/img/npcgood_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0512"/>
            <a:ext cx="822960" cy="10698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6459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565C0"/>
                </a:solidFill>
              </a:rPr>
              <a:t>적정 답변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565C0"/>
                </a:solidFill>
              </a:rPr>
              <a:t>파워 +1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1089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</a:rPr>
              <a:t>핵심 요소 2개 이상 포함</a:t>
            </a:r>
            <a:endParaRPr lang="en-US" sz="1500" dirty="0"/>
          </a:p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</a:rPr>
              <a:t>공감 표현 + 구체 행동</a:t>
            </a:r>
            <a:endParaRPr lang="en-US" sz="1500" dirty="0"/>
          </a:p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</a:rPr>
              <a:t>최대 10점까지 상승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79976" y="137160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FF6D9"/>
          </a:solidFill>
          <a:ln w="12700">
            <a:solidFill>
              <a:srgbClr val="FFF6D9"/>
            </a:solidFill>
            <a:prstDash val="solid"/>
          </a:ln>
        </p:spPr>
      </p:sp>
      <p:pic>
        <p:nvPicPr>
          <p:cNvPr id="8" name="Image 1" descr="/home/claude/edu/img/npc_f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10512"/>
            <a:ext cx="822960" cy="10698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14416" y="16459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8A6D00"/>
                </a:solidFill>
              </a:rPr>
              <a:t>미흡 답변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8A6D00"/>
                </a:solidFill>
              </a:rPr>
              <a:t>파워 유지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654296" y="31089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</a:rPr>
              <a:t>핵심 요소 1개만 포함</a:t>
            </a:r>
            <a:endParaRPr lang="en-US" sz="1500" dirty="0"/>
          </a:p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</a:rPr>
              <a:t>또는 공감 표현만 있음</a:t>
            </a:r>
            <a:endParaRPr lang="en-US" sz="1500" dirty="0"/>
          </a:p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</a:rPr>
              <a:t>다음 문항에서 보완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302752" y="1371600"/>
            <a:ext cx="3429000" cy="3429000"/>
          </a:xfrm>
          <a:prstGeom prst="roundRect">
            <a:avLst>
              <a:gd name="adj" fmla="val 32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2" name="Image 2" descr="/home/claude/edu/img/npc_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810512"/>
            <a:ext cx="822960" cy="10698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537192" y="16459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C62828"/>
                </a:solidFill>
              </a:rPr>
              <a:t>부족 답변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C62828"/>
                </a:solidFill>
              </a:rPr>
              <a:t>파워 −1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577072" y="31089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</a:rPr>
              <a:t>핵심 요소 없음</a:t>
            </a:r>
            <a:endParaRPr lang="en-US" sz="1500" dirty="0"/>
          </a:p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</a:rPr>
              <a:t>"몰라요" ·</a:t>
            </a:r>
            <a:br>
              <a:rPr lang="en-US" sz="1500" dirty="0">
                <a:solidFill>
                  <a:srgbClr val="1F2433"/>
                </a:solidFill>
              </a:rPr>
            </a:br>
            <a:r>
              <a:rPr lang="en-US" sz="1500" dirty="0">
                <a:solidFill>
                  <a:srgbClr val="1F2433"/>
                </a:solidFill>
              </a:rPr>
              <a:t>"알아서" 같은 표현</a:t>
            </a:r>
            <a:endParaRPr lang="en-US" sz="1500" dirty="0"/>
          </a:p>
          <a:p>
            <a:pPr marL="342900" indent="-342900" eaLnBrk="0" latinLnBrk="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</a:rPr>
              <a:t>6자 미만 짧은 답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5029200"/>
            <a:ext cx="11277295" cy="1143000"/>
          </a:xfrm>
          <a:prstGeom prst="roundRect">
            <a:avLst>
              <a:gd name="adj" fmla="val 9600"/>
            </a:avLst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pic>
        <p:nvPicPr>
          <p:cNvPr id="16" name="Image 3" descr="/home/claude/edu/img/med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38928"/>
            <a:ext cx="749808" cy="9144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37360" y="516636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B020"/>
                </a:solidFill>
              </a:rPr>
              <a:t>관문 통과: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대화 8문항(구조대상자 5 · 기자 3) 뒤 파워 </a:t>
            </a:r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</a:rPr>
              <a:t>8 이상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 · </a:t>
            </a:r>
            <a:br>
              <a:rPr lang="en-US" sz="1800" dirty="0">
                <a:solidFill>
                  <a:srgbClr val="FFFFFF"/>
                </a:solidFill>
              </a:rPr>
            </a:br>
            <a:r>
              <a:rPr lang="en-US" sz="1800" dirty="0">
                <a:solidFill>
                  <a:srgbClr val="FFFFFF"/>
                </a:solidFill>
              </a:rPr>
              <a:t>7개 관문 모두 통과 → </a:t>
            </a:r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</a:rPr>
              <a:t>대한민국 재난소통 영웅 훈장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언론 답변 필수 구성 요소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6949440" cy="1078992"/>
          </a:xfrm>
          <a:prstGeom prst="roundRect">
            <a:avLst>
              <a:gd name="adj" fmla="val 10169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91056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91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371600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7D32"/>
                </a:solidFill>
              </a:rPr>
              <a:t>확인된 사실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371600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433"/>
                </a:solidFill>
              </a:rPr>
              <a:t>언제 · 어디서 · 얼마나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6949440" cy="1078992"/>
          </a:xfrm>
          <a:prstGeom prst="roundRect">
            <a:avLst>
              <a:gd name="adj" fmla="val 10169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25496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254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606040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7D32"/>
                </a:solidFill>
              </a:rPr>
              <a:t>현재 조치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606040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433"/>
                </a:solidFill>
              </a:rPr>
              <a:t>구조 · 통제 · 지원 진행 상황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6949440" cy="1078992"/>
          </a:xfrm>
          <a:prstGeom prst="roundRect">
            <a:avLst>
              <a:gd name="adj" fmla="val 10169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59936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0599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3840480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7D32"/>
                </a:solidFill>
              </a:rPr>
              <a:t>시민 행동 안내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3840480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433"/>
                </a:solidFill>
              </a:rPr>
              <a:t>지금 시민이 할 일 한 가지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6949440" cy="1078992"/>
          </a:xfrm>
          <a:prstGeom prst="roundRect">
            <a:avLst>
              <a:gd name="adj" fmla="val 10169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294376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2943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074920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2E7D32"/>
                </a:solidFill>
              </a:rPr>
              <a:t>다음 발표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5074920"/>
            <a:ext cx="3200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433"/>
                </a:solidFill>
              </a:rPr>
              <a:t>브리핑 시각 · 문의 창구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26680" y="1371600"/>
            <a:ext cx="4007815" cy="4800600"/>
          </a:xfrm>
          <a:prstGeom prst="roundRect">
            <a:avLst>
              <a:gd name="adj" fmla="val 2738"/>
            </a:avLst>
          </a:prstGeom>
          <a:solidFill>
            <a:srgbClr val="F6F7FA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164592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1020" y="180594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778240" y="1645920"/>
            <a:ext cx="2727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F2433"/>
                </a:solidFill>
              </a:rPr>
              <a:t>피할 말</a:t>
            </a:r>
            <a:endParaRPr lang="en-US" sz="2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624328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503920" y="2514600"/>
            <a:ext cx="3001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C62828"/>
                </a:solidFill>
              </a:rPr>
              <a:t>추측 · 단정</a:t>
            </a:r>
            <a:endParaRPr lang="en-US" sz="16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"방화로 보입니다"</a:t>
            </a:r>
            <a:endParaRPr lang="en-US" sz="16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493008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503920" y="3383280"/>
            <a:ext cx="3001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C62828"/>
                </a:solidFill>
              </a:rPr>
              <a:t>피해자 신상</a:t>
            </a:r>
            <a:endParaRPr lang="en-US" sz="16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이름 · 집 주소 · 사진</a:t>
            </a:r>
            <a:endParaRPr lang="en-US" sz="16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361688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503920" y="4251960"/>
            <a:ext cx="3001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C62828"/>
                </a:solidFill>
              </a:rPr>
              <a:t>"노코멘트"</a:t>
            </a:r>
            <a:endParaRPr lang="en-US" sz="16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대신 다음 발표 시각 안내</a:t>
            </a:r>
            <a:endParaRPr lang="en-US" sz="16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5230368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503920" y="5120640"/>
            <a:ext cx="3001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C62828"/>
                </a:solidFill>
              </a:rPr>
              <a:t>책임 떠넘기기</a:t>
            </a:r>
            <a:endParaRPr lang="en-US" sz="16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"우리 소관이 아닙니다"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B020"/>
                </a:solidFill>
              </a:rPr>
              <a:t>유형별 학습 · 35분 + 25분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재난 유형별 응대 요령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9D1E6"/>
                </a:solidFill>
              </a:rPr>
              <a:t>유형마다 구조대상자 응대 1장 → 게임 기자 질문 언론 응대 2~3장 → 행동요령</a:t>
            </a:r>
            <a:endParaRPr lang="en-US" sz="1600" dirty="0"/>
          </a:p>
        </p:txBody>
      </p:sp>
      <p:pic>
        <p:nvPicPr>
          <p:cNvPr id="5" name="Image 0" descr="/home/claude/edu/img/bg_floo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423160"/>
            <a:ext cx="2651760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703320"/>
            <a:ext cx="2651760" cy="502920"/>
          </a:xfrm>
          <a:prstGeom prst="rect">
            <a:avLst/>
          </a:prstGeom>
          <a:solidFill>
            <a:srgbClr val="121829">
              <a:alpha val="80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B020"/>
                </a:solidFill>
              </a:rPr>
              <a:t>01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침수</a:t>
            </a:r>
            <a:endParaRPr lang="en-US" sz="1700" dirty="0"/>
          </a:p>
        </p:txBody>
      </p:sp>
      <p:pic>
        <p:nvPicPr>
          <p:cNvPr id="8" name="Image 1" descr="/home/claude/edu/img/bg_fir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28416" y="2423160"/>
            <a:ext cx="2651760" cy="1783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28416" y="3703320"/>
            <a:ext cx="2651760" cy="502920"/>
          </a:xfrm>
          <a:prstGeom prst="rect">
            <a:avLst/>
          </a:prstGeom>
          <a:solidFill>
            <a:srgbClr val="121829">
              <a:alpha val="80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465576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B020"/>
                </a:solidFill>
              </a:rPr>
              <a:t>02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화재</a:t>
            </a:r>
            <a:endParaRPr lang="en-US" sz="1700" dirty="0"/>
          </a:p>
        </p:txBody>
      </p:sp>
      <p:pic>
        <p:nvPicPr>
          <p:cNvPr id="11" name="Image 2" descr="/home/claude/edu/img/bg_quak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9632" y="2423160"/>
            <a:ext cx="2651760" cy="17830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199632" y="3703320"/>
            <a:ext cx="2651760" cy="502920"/>
          </a:xfrm>
          <a:prstGeom prst="rect">
            <a:avLst/>
          </a:prstGeom>
          <a:solidFill>
            <a:srgbClr val="121829">
              <a:alpha val="80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336792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B020"/>
                </a:solidFill>
              </a:rPr>
              <a:t>03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지진</a:t>
            </a:r>
            <a:endParaRPr lang="en-US" sz="1700" dirty="0"/>
          </a:p>
        </p:txBody>
      </p:sp>
      <p:pic>
        <p:nvPicPr>
          <p:cNvPr id="14" name="Image 3" descr="/home/claude/edu/img/bg_blast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70848" y="2423160"/>
            <a:ext cx="2651760" cy="178308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9070848" y="3703320"/>
            <a:ext cx="2651760" cy="502920"/>
          </a:xfrm>
          <a:prstGeom prst="rect">
            <a:avLst/>
          </a:prstGeom>
          <a:solidFill>
            <a:srgbClr val="121829">
              <a:alpha val="80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9208008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B020"/>
                </a:solidFill>
              </a:rPr>
              <a:t>04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폭발</a:t>
            </a:r>
            <a:endParaRPr lang="en-US" sz="1700" dirty="0"/>
          </a:p>
        </p:txBody>
      </p:sp>
      <p:pic>
        <p:nvPicPr>
          <p:cNvPr id="17" name="Image 4" descr="/home/claude/edu/img/bg_heat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892808" y="4425696"/>
            <a:ext cx="2651760" cy="178308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1892808" y="5705856"/>
            <a:ext cx="2651760" cy="502920"/>
          </a:xfrm>
          <a:prstGeom prst="rect">
            <a:avLst/>
          </a:prstGeom>
          <a:solidFill>
            <a:srgbClr val="121829">
              <a:alpha val="80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2029968" y="5705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B020"/>
                </a:solidFill>
              </a:rPr>
              <a:t>05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폭염</a:t>
            </a:r>
            <a:endParaRPr lang="en-US" sz="1700" dirty="0"/>
          </a:p>
        </p:txBody>
      </p:sp>
      <p:pic>
        <p:nvPicPr>
          <p:cNvPr id="20" name="Image 5" descr="/home/claude/edu/img/bg_collapse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64024" y="4425696"/>
            <a:ext cx="2651760" cy="17830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764024" y="5705856"/>
            <a:ext cx="2651760" cy="502920"/>
          </a:xfrm>
          <a:prstGeom prst="rect">
            <a:avLst/>
          </a:prstGeom>
          <a:solidFill>
            <a:srgbClr val="121829">
              <a:alpha val="80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4901184" y="5705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B020"/>
                </a:solidFill>
              </a:rPr>
              <a:t>06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건물붕괴</a:t>
            </a:r>
            <a:endParaRPr lang="en-US" sz="1700" dirty="0"/>
          </a:p>
        </p:txBody>
      </p:sp>
      <p:pic>
        <p:nvPicPr>
          <p:cNvPr id="23" name="Image 6" descr="/home/claude/edu/img/bg_virus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635240" y="4425696"/>
            <a:ext cx="2651760" cy="178308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635240" y="5705856"/>
            <a:ext cx="2651760" cy="502920"/>
          </a:xfrm>
          <a:prstGeom prst="rect">
            <a:avLst/>
          </a:prstGeom>
          <a:solidFill>
            <a:srgbClr val="121829">
              <a:alpha val="80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7772400" y="5705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B020"/>
                </a:solidFill>
              </a:rPr>
              <a:t>07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감염병확산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flo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floo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· 상황 브리핑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호우경보 · 반지하 빗물 역류 · 지하차도 침수 위험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brief_f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1527048"/>
            <a:ext cx="3368954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58368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①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7월 14일 밤 9시 · 호우경보 · 시간당 52mm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○○구 저지대 반지하 주택가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밤 9시, 시간당 52mm 넘는 비가 쏟아지며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하수구가 넘쳤습니다. 골목으로 흙탕물이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역류해 지금까지 반지하 주택 20세대가 물에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잠겼습니다. 주민 65명은 ○○초등학교 체육관로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대피했고, 고립됐던 8명은 구조됐습니다.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주민센터에 "반지하에 어르신이 혼자 계신다"는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신고가 들어와 당신이 먼저 도착했습니다.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16" name="Image 3" descr="/home/claude/edu/img/npc_f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553712"/>
            <a:ext cx="347472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김순자 어르신 · 반지하 거주 주민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짐 · 전기 · 갈 곳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94360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31520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물이 더 차기 전에</a:t>
            </a:r>
            <a:br>
              <a:rPr lang="en-US" sz="1150" b="1" dirty="0">
                <a:solidFill>
                  <a:srgbClr val="1B2A4A"/>
                </a:solidFill>
              </a:rPr>
            </a:br>
            <a:r>
              <a:rPr lang="en-US" sz="1150" b="1" dirty="0">
                <a:solidFill>
                  <a:srgbClr val="1B2A4A"/>
                </a:solidFill>
              </a:rPr>
              <a:t>지상으로 대피시키기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전기 · 가스 ·</a:t>
            </a:r>
            <a:br>
              <a:rPr lang="en-US" sz="1150" b="1" dirty="0">
                <a:solidFill>
                  <a:srgbClr val="1B2A4A"/>
                </a:solidFill>
              </a:rPr>
            </a:br>
            <a:r>
              <a:rPr lang="en-US" sz="1150" b="1" dirty="0">
                <a:solidFill>
                  <a:srgbClr val="1B2A4A"/>
                </a:solidFill>
              </a:rPr>
              <a:t>이웃 확인을 짧고 분명하게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대피 뒤 머물 곳과 지원 안내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01642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home/claude/edu/img/brief_f2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11370" y="1527048"/>
            <a:ext cx="3368954" cy="9144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02810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02810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②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484522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8월 8일 저녁 7시 30분 ·</a:t>
            </a:r>
            <a:br>
              <a:rPr lang="en-US" sz="1050" dirty="0">
                <a:solidFill>
                  <a:srgbClr val="1F2433"/>
                </a:solidFill>
              </a:rPr>
            </a:br>
            <a:r>
              <a:rPr lang="en-US" sz="1050" dirty="0">
                <a:solidFill>
                  <a:srgbClr val="1F2433"/>
                </a:solidFill>
              </a:rPr>
              <a:t>호우경보 · 시간당 70mm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○○동 지하차도 입구 · 퇴근길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4484522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저녁 7시 30분, 시간당 70mm 폭우로 지하차도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바닥에 물이 96cm까지 찼습니다. 이미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차량 9대가 안에 갇혔고, 구조대가 탑승자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13명을 꺼냈습니다. 시는 시내 지하차도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10곳을 차례로 막고 있습니다. 통제 차단기가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내려오기 직전, 퇴근 차량들이 입구 앞에서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멈칫거리고 한 운전자가 창문을 내립니다.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438802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27" name="Image 5" descr="/home/claude/edu/img/npc_f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098" y="4553712"/>
            <a:ext cx="347472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941722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박준호 씨 · 퇴근길 운전자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시간 · 차량 · 가족 연락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438802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575962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지하차도 진입을 단호하게 막기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차가 잠기면 바로 탈출하는 순서 안내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안전한 우회로와 가족 연락 방법 안내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46085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6" descr="/home/claude/edu/img/brief_f3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55813" y="1527048"/>
            <a:ext cx="3368954" cy="9144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347253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47253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③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328965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7월 27일 오후 4시 20분 · 산간 호우주의보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○○계곡 야영장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8328965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상류 산간에 밤새 비가 내렸고, 야영장에는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29명이 머물고 있습니다. 하늘은 잠시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개었지만 30분 사이 계곡 수위가 66cm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올랐습니다. 오후 5시 30분 기준 건너편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바위에 11명이 고립됐고 3명은 구조됐습니다.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군청은 계곡 9곳 출입을 통제했고,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순찰하던 당신이 야영장에 들어섰습니다.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8283245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38" name="Image 7" descr="/home/claude/edu/img/npc_f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5541" y="4553712"/>
            <a:ext cx="347472" cy="4572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786165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이서윤 학생 · 계곡 야영객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장비 · 친구 · 구조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8283245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420405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물이 불기 전에 높은 곳으로 즉시 대피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고립된 친구에게</a:t>
            </a:r>
            <a:br>
              <a:rPr lang="en-US" sz="1150" b="1" dirty="0">
                <a:solidFill>
                  <a:srgbClr val="1B2A4A"/>
                </a:solidFill>
              </a:rPr>
            </a:br>
            <a:r>
              <a:rPr lang="en-US" sz="1150" b="1" dirty="0">
                <a:solidFill>
                  <a:srgbClr val="1B2A4A"/>
                </a:solidFill>
              </a:rPr>
              <a:t>직접 들어가지 않게 막기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구조 요청과 기다리는 방법 안내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4206240" y="6446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 latinLnBrk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3A6"/>
                </a:solidFill>
              </a:rPr>
              <a:t>※ 이야기 속 수치는 예시입니다. 게임에서는 현장에 들어갈 때마다 새 수치가 나옵니다.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flo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floo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· 구조대상자 응대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호우경보 · 반지하 빗물 역류 · 지하차도 침수 위험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npc_f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78838"/>
            <a:ext cx="438912" cy="57058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07008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박준호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퇴근길 운전자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94360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지하차도만 지나가면 금방인데,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그냥 가도 되죠?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4360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1520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안 됩니다.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지하차도는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몇</a:t>
            </a:r>
            <a:br>
              <a:rPr lang="en-US" sz="1400" b="1" dirty="0">
                <a:solidFill>
                  <a:srgbClr val="C62828"/>
                </a:solidFill>
              </a:rPr>
            </a:br>
            <a:r>
              <a:rPr lang="en-US" sz="1400" b="1" dirty="0">
                <a:solidFill>
                  <a:srgbClr val="C62828"/>
                </a:solidFill>
              </a:rPr>
              <a:t>분 만에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물이 차올라 차가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갇힙니다.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진입하지 마시고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지상 도로로 우회해 주세요.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진입 금지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다른 길로 우회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급격한 침수 위험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07738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/home/claude/edu/img/npc_f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18" y="1678838"/>
            <a:ext cx="438912" cy="5705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57546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김순자 어르신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반지하 거주 주민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444898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582058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아이고, 현관으로 물이 막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들어와요! 짐부터 챙겨야 하나요?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44898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2058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어르신, 짐은 두고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지금 바로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나오셔야 합니다. 드시는 약과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신분증만 챙기시고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저와 함께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지상의 높은 곳으로 가요.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44898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82058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즉시 밖으로 대피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짐은 최소한만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지상·높은 곳으로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58277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/home/claude/edu/img/npc_f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157" y="1678838"/>
            <a:ext cx="438912" cy="57058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08085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김순자 어르신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반지하 거주 주민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95437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432597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이제 집은 어떻게 되는 거예요?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혼자 살아서 갈 데도 없어요.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295437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432597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혼자가 아니세요.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오늘은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주민센터 임시대피소에서 지내실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수 있고,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피해 신고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를 하시면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재난지원금과 복구 지원을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받으실 수 있어요. 신청은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제가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담당자와 함께 도와드릴게요.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95437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432597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임시 거처 안내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복구·지원 제도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혼자가 아님을 전달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flo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floo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· 언론 응대 ① 반지하 거주 주민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호우경보 발령. 저지대 반지하 주택가로 빗물이 역류하고 있습니다.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반지하 주택 침수 피해 규모는 어느 정도입니까?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 확인된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침수 주택은 20세대이고, 주민 65명이 임시대피소로 대피했습니다.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구조대와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배수 장비를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투입해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남은 세대를 확인 중이며,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정확한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집계는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밤 11시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브리핑에서 발표하겠습니다.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현재 조치   ③ 다음 발표 시각·창구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반지하 주민 대피 안내가 늦었다는 지적이 있습니다.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피해를 입으신 주민께 깊은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위로를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드립니다.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안내 시각과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경위는 조사해서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그대로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공개하겠습니다.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지금 반지하에 계신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주민께서는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지상으로 대피해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위로·공감   ② 경위 조사·공개 약속   ③ 지금 시민 행동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이재민 지원은 어떻게 이뤄집니까?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주민센터 임시대피소에서 숙소와 구호물품을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지원하고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피해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신고는 주민센터 창구에서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접수하며,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재난지원금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신청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방법은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안내 문자로 알려드리겠습니다.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임시 거처·구호 지원   ② 피해 신고 창구   ③ 안내 방법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정다은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새벽일보 사회부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신고 시각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밤 9시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시간당 강수량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52mm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침수 확인 주택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20세대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임시대피소 대피 주민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65명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구조된 고립 주민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8명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임시대피소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○○초등학교 체육관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브리핑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밤 11시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underpa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underpas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· 언론 응대 ② 퇴근길 운전자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시간당 70mm 폭우. 지하차도 입구 앞, 차량들이 진입을 망설이고 있습니다.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지하차도에 갇힌 차량과 인명 피해는 확인됐습니까?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 확인된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고립 차량은 9대이고 탑승자 13명을 모두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구조했습니다.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추가 고립 여부는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잠수 수색으로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확인 중이며,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확인되지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않은 수치는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추측하지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않겠습니다.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수색 진행   ③ 추측하지 않기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왜 지하차도를 미리 통제하지 않았습니까?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통제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시점과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경위는 조사해서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그대로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공개하겠습니다.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현재 시내 지하차도 10곳을 모두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차단했습니다.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운전자께서는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지하차도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진입을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피하고 지상 도로로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우회해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경위 조사·공개   ② 현재 통제 조치   ③ 운전자 행동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침수 차량 보험 처리는 어떻게 됩니까?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자동차보험 자기차량손해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담보에 가입하셨다면 침수 피해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보상을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받으실 수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현장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사진을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남겨 두시고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보험사에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접수해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피해 사실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확인서는 구청에서 발급합니다.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보상 제도   ② 증빙 남기기   ③ 접수 창구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최현우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KCL뉴스 현장팀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신고 시각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저녁 7시 30분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시간당 강수량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70mm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지하차도 물 깊이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96cm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고립 차량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9대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구조한 탑승자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13명 (전원)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시내 통제 지하차도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10곳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브리핑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밤 9시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vall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valle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침수 · 언론 응대 ③ 계곡 야영객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산간 지역 호우주의보. 상류에 많은 비가 내렸지만 계곡은 아직 잔잔해 보입니다.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계곡 고립 야영객 구조 상황을 알려주십시오.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오후 5시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기준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고립 인원 11명 가운데 3명을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구조했습니다.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나머지 8명은 위치를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확인했고 구조대가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접근 중입니다.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구조가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끝나면 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알려드리겠습니다.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현재 조치   ③ 다음 발표 시각·창구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기상특보가 있었는데 왜 야영객이 남아 있었습니까?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경위는 확인해서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알려드리겠습니다.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지금은 인근 계곡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야영객 철수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안내와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순찰을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하고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시민께서는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호우특보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중 계곡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야영을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피하고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기상정보를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꼭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경위 확인 약속   ② 현재 조치   ③ 시민 당부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다른 계곡도 위험합니까?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 상류에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비가 이어져 계곡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9곳의 출입을 통제했습니다.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피서객께서는 물가 접근을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피하고 높은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곳으로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이동해 주십시오.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통제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해제는 안내 문자로 알려드리겠습니다.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현재 상황   ② 출입 통제   ③ 피서객 행동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pic>
        <p:nvPicPr>
          <p:cNvPr id="31" name="Image 5" descr="/home/claude/edu/img/me_lime_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691640"/>
            <a:ext cx="548640" cy="7132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555480" y="1581912"/>
            <a:ext cx="2087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행동요령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침수 현장 다섯 가지</a:t>
            </a:r>
            <a:endParaRPr lang="en-US" sz="2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2773375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08008" y="2496312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지하차도·하천변·맨홀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근처 접근 금지</a:t>
            </a:r>
            <a:endParaRPr lang="en-US" sz="14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3528670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208008" y="3251606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반지하·지하 공간 →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물 차기 전 즉시 지상으로</a:t>
            </a:r>
            <a:endParaRPr lang="en-US" sz="14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4283964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208008" y="4006901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무릎 높이 물살 →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걸어서 건너기 금지</a:t>
            </a:r>
            <a:endParaRPr lang="en-US" sz="14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5039258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208008" y="4762195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차량 침수 →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안전벨트 풀고 바로 탈출</a:t>
            </a:r>
            <a:endParaRPr lang="en-US" sz="14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5794553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208008" y="5517490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재난문자·기상특보 수시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f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fi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02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화재 · 상황 브리핑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고층 아파트 화재 · 전통시장 점포 화재 · 연기 확산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brief_h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1527048"/>
            <a:ext cx="3368954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58368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①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1월 19일 새벽 2시 55분 · 건조주의보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○○아파트 102동 15층 복도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새벽 2시 55분, 16층 세대 주방에서 불이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났습니다. 이 동에는 105세대가 살고,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지금까지 주민 73명이 대피했으며 7명이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연기를 마셔 병원으로 옮겨졌습니다. 소방대가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16층 진화를 시작했고, 당신은 바로 아래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15층 주민 대피를 돕기 위해 올라왔습니다.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16" name="Image 3" descr="/home/claude/edu/img/npc_h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553712"/>
            <a:ext cx="347472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정미영 씨 · 아파트 15층 주민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엘리베이터 · 아이 · 대피 방향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94360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31520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엘리베이터 대신 계단으로 낮게 대피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연기가 막히면 경량칸막이 ·</a:t>
            </a:r>
            <a:br>
              <a:rPr lang="en-US" sz="1150" b="1" dirty="0">
                <a:solidFill>
                  <a:srgbClr val="1B2A4A"/>
                </a:solidFill>
              </a:rPr>
            </a:br>
            <a:r>
              <a:rPr lang="en-US" sz="1150" b="1" dirty="0">
                <a:solidFill>
                  <a:srgbClr val="1B2A4A"/>
                </a:solidFill>
              </a:rPr>
              <a:t>대피공간 안내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아이를 안심시키고 함께 움직이기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01642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home/claude/edu/img/brief_h2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11370" y="1527048"/>
            <a:ext cx="3368954" cy="9144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02810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02810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②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484522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12월 3일 오후 1시 10분 · 건조한 날씨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○○전통시장 먹자골목 (점포 213곳)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4484522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오후 1시 10분, 시장 안쪽 점포 콘센트에서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튄 불꽃이 천막으로 옮겨붙었습니다. 점포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213곳이 모인 좁은 골목으로 연기가 빠르게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번져, 지금까지 점포 13곳이 탔고 상인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3명이 연기를 마셨습니다. 시장 순찰 중이던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당신이 가장 먼저 현장에 도착했습니다.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438802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27" name="Image 5" descr="/home/claude/edu/img/npc_h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098" y="4553712"/>
            <a:ext cx="347472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941722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최영길 사장 · 전통시장 상인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가게 · 돈통 · 생계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438802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575962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초기 진화가 어려우면 바로 대피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손님 · 이웃 상인 대피를 함께 돕기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다친 곳 확인과 앞으로 받을 지원 안내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46085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6" descr="/home/claude/edu/img/brief_h3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55813" y="1527048"/>
            <a:ext cx="3368954" cy="9144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347253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47253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③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328965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4월 5일 오후 2시 50분 ·</a:t>
            </a:r>
            <a:br>
              <a:rPr lang="en-US" sz="1050" dirty="0">
                <a:solidFill>
                  <a:srgbClr val="1F2433"/>
                </a:solidFill>
              </a:rPr>
            </a:br>
            <a:r>
              <a:rPr lang="en-US" sz="1050" dirty="0">
                <a:solidFill>
                  <a:srgbClr val="1F2433"/>
                </a:solidFill>
              </a:rPr>
              <a:t>강풍주의보 · 초속 16m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○○군 산간 마을 (69가구) · 마을회관 앞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8328965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건너편 능선에서 시작된 산불이 초속 16m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바람을 타고 마을 뒷산까지 번졌습니다. 오후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2시 50분 대피 명령이 내려졌고, 헬기 16대와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진화 인력 747명이 투입됐습니다. 주민 131명은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대피소 5곳으로 옮겼지만, 혼자 사는 어르신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몇 분이 집을 지키겠다며 나오지 않습니다.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대피 지원을 맡은 당신이 한 집을 찾았습니다.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8283245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38" name="Image 7" descr="/home/claude/edu/img/npc_h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5541" y="4553712"/>
            <a:ext cx="347472" cy="4572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786165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오말순 어르신 · 산간 마을 주민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집 · 가축 · 대피 길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8283245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420405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산 반대쪽 지정 대피장소로 바로 이동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불길 · 연기 피하는 길 안내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약 · 연락처 챙기고 마음 안정시키기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4206240" y="6446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 latinLnBrk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3A6"/>
                </a:solidFill>
              </a:rPr>
              <a:t>※ 이야기 속 수치는 예시입니다. 게임에서는 현장에 들어갈 때마다 새 수치가 나옵니다.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f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fi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02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화재 · 구조대상자 응대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고층 아파트 화재 · 전통시장 점포 화재 · 연기 확산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npc_h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78838"/>
            <a:ext cx="438912" cy="57058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07008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정미영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아파트 15층 주민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94360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윗집에서 연기가 나요!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엘리베이터 타고 내려가면 되죠?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4360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1520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엘리베이터는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정전되면 갇히고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연기 통로가 됩니다. 젖은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수건으로 코와 입을 막고, 자세를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낮춰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계단으로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내려가세요.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엘리베이터 금지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계단으로 대피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낮은 자세·코입 가리기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07738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/home/claude/edu/img/npc_h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18" y="1678838"/>
            <a:ext cx="438912" cy="5705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57546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최영길 사장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전통시장 상인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444898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582058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가게 물건 다 타요! 돈통이라도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가지고 나와야 해요!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44898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2058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지금 다시 들어가시면 안</a:t>
            </a:r>
            <a:br>
              <a:rPr lang="en-US" sz="1400" b="1" dirty="0">
                <a:solidFill>
                  <a:srgbClr val="C62828"/>
                </a:solidFill>
              </a:rPr>
            </a:br>
            <a:r>
              <a:rPr lang="en-US" sz="1400" b="1" dirty="0">
                <a:solidFill>
                  <a:srgbClr val="C62828"/>
                </a:solidFill>
              </a:rPr>
              <a:t>됩니다.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연기 몇 모금에도 쓰러질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수 있어요. 물건은 화재보험과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복구 지원으로 다시 일으킬 수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있지만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사장님은 한 분뿐이에요.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44898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82058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다시 들어가지 않기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생명이 우선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보험·복구 지원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58277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/home/claude/edu/img/npc_h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157" y="1678838"/>
            <a:ext cx="438912" cy="57058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08085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정미영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아파트 15층 주민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95437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432597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아이가 너무 무서워서 울어요.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어떻게 달래요?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295437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432597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아이를 꼭 안고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"엄마가 옆에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있어, 소방관 아저씨가 곧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와"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라고 말해 주세요. 젖은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수건으로 입을 막고 엄마처럼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몸을 낮추자고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같이 해 보세요.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95437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432597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곁에서 안심시키기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아이가 할 행동 알려주기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구조대 오고 있음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f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fi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02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화재 · 언론 응대 ① 아파트 15층 주민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고층 아파트 화재. 위층 세대에서 연기가 퍼지고 있다는 신고가 접수됐습니다.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몇 층에서 불이 났고 인명 피해는 어떻습니까?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새벽 2시 55분 16층에서 불이 났습니다.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주민 73명이 대피했고 7명이 연기를 마셔 병원으로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이송됐습니다.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추가 내용은 새벽 4시에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브리핑하겠습니다.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현재 조치   ③ 다음 발표 시각·창구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화재 원인은 무엇입니까?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원인은 합동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감식 결과가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나온 뒤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발표하겠습니다.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지금은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진화와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남은 세대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집중하고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감식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일정은 정해지면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알려드리겠습니다.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추측·단정 금지   ② 지금 집중하는 일   ③ 다음 발표 시각·창구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아직 집 안에 있는 주민은 어떻게 해야 합니까?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엘리베이터를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쓰지 말고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계단으로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대피해 주십시오.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복도에 연기가 차 있으면 문을 닫고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젖은 수건으로 틈을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막은 뒤,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119에 동·호수를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알려 주십시오.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엘리베이터 금지·계단   ② 문 닫고 틈 막기   ③ 119에 위치 알리기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최현우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KCL뉴스 현장팀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화재 신고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새벽 2시 55분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불난 층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16층 (나는 15층)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아파트 세대 수 (이 동)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105세대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대피한 주민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73명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연기 흡입 이송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7명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브리핑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새벽 4시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mark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02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화재 · 언론 응대 ② 전통시장 상인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전통시장 점포에서 불길이 시작됐습니다. 상인들이 우왕좌왕하고 있습니다.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시장 점포 몇 곳이 피해를 입었습니까?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점포 13곳이 불에 탔고, 상인 3명이 연기를 마셔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치료를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받고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잔불 정리가 끝나면 정확한 피해 규모를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발표하겠습니다.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부상자 치료   ③ 다음 발표 시각·창구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시장 소방시설이 제대로 작동했습니까?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소방시설 작동 여부는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감식과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점검으로 확인해서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결과를 공개하겠습니다.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지금은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잔불 정리와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피해 상인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지원에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집중하고 있습니다.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추측·단정 금지   ② 결과 공개 약속   ③ 지금 집중하는 일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피해 상인 지원 대책이 있습니까?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피해 상인을 위한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긴급 생계비와 소상공인 복구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자금을 지원합니다.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시장 입구에 현장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상담 창구를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열었고, 신청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일정은 문자로 안내드리겠습니다.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긴급 지원 제도   ② 현장 상담 창구   ③ 일정 안내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한서진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한빛방송 보도국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화재 신고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1시 10분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시장 전체 점포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213곳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불에 탄 점포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13곳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연기 흡입 치료 상인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3명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브리핑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3시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wildf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wildfi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02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화재 · 언론 응대 ③ 산간 마을 주민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강풍 속 산불 확산. 마을 뒷산으로 불길이 번지며 대피 명령이 내려졌습니다.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산불 확산 범위와 진화율은 어느 정도입니까?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오후 4시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기준 진화율은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62%이고 피해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면적은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약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72ha로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파악했습니다.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헬기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16대와 진화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인력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747명을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투입했습니다.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다음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브리핑은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저녁 6시입니다.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수치   ② 투입 인력·장비   ③ 다음 발표 시각·창구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대피한 주민은 몇 명이고 어디에 있습니까?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주민 131명이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초등학교 체육관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등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대피소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5곳에 머물고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식사와 담요, 의료 지원을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하고 있습니다.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대피 장소   ③ 생활 지원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산불 원인은 무엇입니까?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원인은 산림당국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조사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후 발표하겠습니다.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시민께서는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입산과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쓰레기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소각을 자제해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주시고,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불씨를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보면 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119에 신고해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추측·단정 금지   ② 예방 행동   ③ 발견 시 신고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pic>
        <p:nvPicPr>
          <p:cNvPr id="31" name="Image 5" descr="/home/claude/edu/img/me_fire_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691640"/>
            <a:ext cx="548640" cy="7132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555480" y="1581912"/>
            <a:ext cx="2087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행동요령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화재 현장 다섯 가지</a:t>
            </a:r>
            <a:endParaRPr lang="en-US" sz="2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2773375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08008" y="2496312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"불이야" 외치고 119 신고</a:t>
            </a:r>
            <a:endParaRPr lang="en-US" sz="14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3528670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208008" y="3251606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엘리베이터 금지 →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계단으로 대피</a:t>
            </a:r>
            <a:endParaRPr lang="en-US" sz="14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4283964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208008" y="4006901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젖은 수건으로 코·입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막고 낮은 자세</a:t>
            </a:r>
            <a:endParaRPr lang="en-US" sz="14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5039258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208008" y="4762195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복도 연기 → 문 닫고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틈 막은 뒤 구조 요청</a:t>
            </a:r>
            <a:endParaRPr lang="en-US" sz="14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5794553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208008" y="5517490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대피 후 다시 들어가지 않기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qu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quak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03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지진 · 상황 브리핑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도심 규모 5.4 지진 · 동해 지진해일 경보 · 수업 중 지진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brief_e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1527048"/>
            <a:ext cx="3368954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58368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①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3월 11일 오후 3시 40분 · 규모 5.4 지진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○○구 업무지구</a:t>
            </a:r>
            <a:br>
              <a:rPr lang="en-US" sz="1050" dirty="0">
                <a:solidFill>
                  <a:srgbClr val="1F2433"/>
                </a:solidFill>
              </a:rPr>
            </a:br>
            <a:r>
              <a:rPr lang="en-US" sz="1050" dirty="0">
                <a:solidFill>
                  <a:srgbClr val="1F2433"/>
                </a:solidFill>
              </a:rPr>
              <a:t>12층 사무실 (근무자 394명)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오후 3시 40분, 규모 5.4 지진으로 사무실이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크게 흔들렸습니다. 천장 마감재가 떨어지고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서류장이 쓰러졌습니다. 이 건물에는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394명이 일하고, 업무지구 전체에서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부상자 16명이 병원으로 옮겨졌으며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유리가 깨진 건물이 7곳입니다. 같은 층에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있던 당신에게 직원들이 몰려와 묻습니다.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16" name="Image 3" descr="/home/claude/edu/img/npc_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553712"/>
            <a:ext cx="347472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한지민 대리 · 사무실 직장인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뛰어나갈지 · 여진 · 다친 동료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94360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31520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흔들릴 때는 책상 아래에서 머리 보호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멈춘 뒤 계단으로 넓은 공터까지 이동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다친 동료 응급처치와 119 연결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01642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home/claude/edu/img/brief_e2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11370" y="1527048"/>
            <a:ext cx="3368954" cy="9144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02810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02810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②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484522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9월 21일 오후 12시 40분 ·</a:t>
            </a:r>
            <a:br>
              <a:rPr lang="en-US" sz="1050" dirty="0">
                <a:solidFill>
                  <a:srgbClr val="1F2433"/>
                </a:solidFill>
              </a:rPr>
            </a:br>
            <a:r>
              <a:rPr lang="en-US" sz="1050" dirty="0">
                <a:solidFill>
                  <a:srgbClr val="1F2433"/>
                </a:solidFill>
              </a:rPr>
              <a:t>동해 해역 규모 6.8 지진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○○해수욕장 백사장 (관광객 약 877명)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4484522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오후 12시 40분, 먼바다에서 규모 6.8 지진이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났지만 해변에서는 흔들림을 거의 느끼지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못했습니다. 지진해일 경보와 함께 해일이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오후 1시 23분쯤, 43분 뒤 도착한다는 예보가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나왔습니다. 백사장에는 관광객 약 877명이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남아 사진을 찍고 있습니다. 해변 안전요원을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돕던 당신이 한 관광객에게 다가갑니다.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438802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27" name="Image 5" descr="/home/claude/edu/img/npc_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098" y="4553712"/>
            <a:ext cx="347472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941722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윤태호 씨 · 해변 관광객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구경 · 차 · 짐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438802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575962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해안에서 멀고 높은 곳으로 즉시 대피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물이 빠져도 절대</a:t>
            </a:r>
            <a:br>
              <a:rPr lang="en-US" sz="1150" b="1" dirty="0">
                <a:solidFill>
                  <a:srgbClr val="1B2A4A"/>
                </a:solidFill>
              </a:rPr>
            </a:br>
            <a:r>
              <a:rPr lang="en-US" sz="1150" b="1" dirty="0">
                <a:solidFill>
                  <a:srgbClr val="1B2A4A"/>
                </a:solidFill>
              </a:rPr>
              <a:t>바다로 가지 않게 막기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외국인 · 아이 · 다친 사람도 함께 대피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46085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6" descr="/home/claude/edu/img/brief_e3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55813" y="1527048"/>
            <a:ext cx="3368954" cy="9144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347253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47253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③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328965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5월 16일 오전 11시 20분 · 규모 5.3 지진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○○초등학교 (전교생</a:t>
            </a:r>
            <a:br>
              <a:rPr lang="en-US" sz="1050" dirty="0">
                <a:solidFill>
                  <a:srgbClr val="1F2433"/>
                </a:solidFill>
              </a:rPr>
            </a:br>
            <a:r>
              <a:rPr lang="en-US" sz="1050" dirty="0">
                <a:solidFill>
                  <a:srgbClr val="1F2433"/>
                </a:solidFill>
              </a:rPr>
              <a:t>422명) 4층 6학년 교실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8328965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오전 11시 20분, 3교시 과학 수업 중 규모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5.3 지진으로 교실이 크게 흔들렸습니다.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이 학교 전교생은 422명이고, 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반 학생은 26명입니다. 아이들이 비명을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지르고 몇몇은 문 쪽으로 달려갑니다.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학교 안전 점검을 나와 있던 당신에게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담임교사가 다급하게 도움을 청합니다.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8283245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38" name="Image 7" descr="/home/claude/edu/img/npc_e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5541" y="4553712"/>
            <a:ext cx="347472" cy="4572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786165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강수진 선생님 · 초등학교 담임교사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학생 안전 ·</a:t>
            </a:r>
            <a:br>
              <a:rPr lang="en-US" sz="1100" b="1" dirty="0">
                <a:solidFill>
                  <a:srgbClr val="C62828"/>
                </a:solidFill>
              </a:rPr>
            </a:br>
            <a:r>
              <a:rPr lang="en-US" sz="1100" b="1" dirty="0">
                <a:solidFill>
                  <a:srgbClr val="C62828"/>
                </a:solidFill>
              </a:rPr>
              <a:t>사라진 아이 · 학부모 연락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8283245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420405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책상 아래 → 흔들림 멈춤 →</a:t>
            </a:r>
            <a:br>
              <a:rPr lang="en-US" sz="1150" b="1" dirty="0">
                <a:solidFill>
                  <a:srgbClr val="1B2A4A"/>
                </a:solidFill>
              </a:rPr>
            </a:br>
            <a:r>
              <a:rPr lang="en-US" sz="1150" b="1" dirty="0">
                <a:solidFill>
                  <a:srgbClr val="1B2A4A"/>
                </a:solidFill>
              </a:rPr>
              <a:t>운동장 순서 지키기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인원 확인과 사라진 학생 수색 요청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학부모 안내는 학교</a:t>
            </a:r>
            <a:br>
              <a:rPr lang="en-US" sz="1150" b="1" dirty="0">
                <a:solidFill>
                  <a:srgbClr val="1B2A4A"/>
                </a:solidFill>
              </a:rPr>
            </a:br>
            <a:r>
              <a:rPr lang="en-US" sz="1150" b="1" dirty="0">
                <a:solidFill>
                  <a:srgbClr val="1B2A4A"/>
                </a:solidFill>
              </a:rPr>
              <a:t>공식 문자로 하나로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4206240" y="6446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 latinLnBrk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3A6"/>
                </a:solidFill>
              </a:rPr>
              <a:t>※ 이야기 속 수치는 예시입니다. 게임에서는 현장에 들어갈 때마다 새 수치가 나옵니다.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qu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quak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03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지진 · 구조대상자 응대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도심 규모 5.4 지진 · 동해 지진해일 경보 · 수업 중 지진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npc_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78838"/>
            <a:ext cx="438912" cy="57058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07008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한지민 대리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사무실 직장인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94360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건물이 흔들려요! 지금 바로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밖으로 뛰어나가야 해요?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4360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1520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지금 뛰면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넘어지거나 낙하물에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다칩니다.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책상 아래로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들어가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다리를 꽉 잡고 머리를 보호하세요.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흔들림이 멈추면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그때 나갑니다.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책상 아래로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머리 보호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흔들림 멈춘 뒤 이동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07738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/home/claude/edu/img/npc_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18" y="1678838"/>
            <a:ext cx="438912" cy="5705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57546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윤태호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해변 관광객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444898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582058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바닷물이 갑자기 쭉 빠졌어요!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조개 주울 수 있겠는데요?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44898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2058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바닷물이 빠지는 건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큰 해일이</a:t>
            </a:r>
            <a:br>
              <a:rPr lang="en-US" sz="1400" b="1" dirty="0">
                <a:solidFill>
                  <a:srgbClr val="C62828"/>
                </a:solidFill>
              </a:rPr>
            </a:br>
            <a:r>
              <a:rPr lang="en-US" sz="1400" b="1" dirty="0">
                <a:solidFill>
                  <a:srgbClr val="C62828"/>
                </a:solidFill>
              </a:rPr>
              <a:t>곧 밀려온다는 신호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입니다.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지금 당장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해안에서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벗어나 높은 곳으로 뛰세요.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44898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82058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해일 전조 경고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지금 즉시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해안에서 멀리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58277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/home/claude/edu/img/npc_e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157" y="1678838"/>
            <a:ext cx="438912" cy="57058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08085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강수진 선생님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초등학교 담임교사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95437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432597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아이들이 무서워서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밤에 못 잘 것 같대요.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295437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432597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무서운 마음은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누구나 드는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당연한 반응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이라고 말해 주세요.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그림이나 이야기로 마음을 꺼내게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해 주시고, 오래가면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위클래스나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심리지원센터와 연결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할 수 있어요.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95437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432597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정상적인 반응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이야기·표현 돕기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전문 상담 연결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offi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offi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03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지진 · 언론 응대 ① 사무실 직장인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규모 5.4 지진 발생. 도심 오피스 빌딩이 크게 흔들리고 있습니다.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건물 피해와 부상자 규모는 어떻습니까?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부상자 16명이 병원으로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이송됐고,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외벽 유리가 깨진 건물 7곳을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확인했습니다.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구조대가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건물별로 남은 사람을 확인 중이며, 오후 5시에 다시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알려드리겠습니다.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현재 조치   ③ 다음 발표 시각·창구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직장인들은 언제 건물로 돌아가도 됩니까?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건물별 안전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점검이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끝나야 들어가실 수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점검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결과는 구청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문자와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건물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관리자를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통해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안내합니다.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그 전까지는 건물에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들어가지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말고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공터에서 대기해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안전 점검 뒤 복귀   ② 공식 안내 방법   ③ 그 전까지 행동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추가 지진 가능성은 있습니까?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여진 가능성은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기상청 공식 발표를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기준으로 안내드리겠습니다.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흔들리면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탁자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아래에서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머리를 보호하고,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멈추면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공터로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이동해 주십시오.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재난문자도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계속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공식 출처   ② 여진 때 행동   ③ 정보 확인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한서진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한빛방송 보도국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지진 발생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3시 40분 ·</a:t>
            </a:r>
            <a:br>
              <a:rPr lang="en-US" sz="1150" b="1" dirty="0">
                <a:solidFill>
                  <a:srgbClr val="1F2433"/>
                </a:solidFill>
              </a:rPr>
            </a:br>
            <a:r>
              <a:rPr lang="en-US" sz="1150" b="1" dirty="0">
                <a:solidFill>
                  <a:srgbClr val="1F2433"/>
                </a:solidFill>
              </a:rPr>
              <a:t>규모 5.4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이 건물 근무자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394명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병원 이송 부상자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16명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유리 파손 건물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7곳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브리핑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5시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tsunam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tsunam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03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지진 · 언론 응대 ② 해변 관광객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동해 해역 규모 6.8 지진. 지진해일 경보가 발령됐습니다.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해일 피해 지역과 인명 피해는 어떻습니까?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해안 마을 5곳이 침수됐고 실종 신고는 4건입니다.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해경과 구조대가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해안을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수색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중이며,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확인되지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않은 피해는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추측하지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않겠습니다.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수색 진행   ③ 추측하지 않기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해안 주민은 언제 돌아갈 수 있습니까?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지진해일은 여러 번 올 수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경보가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공식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해제될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때까지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대피소와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높은 곳에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머물러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해제되면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재난문자로 바로 알려드리겠습니다.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경보 해제 기준   ② 반복 해일 위험   ③ 대피 유지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외국인 관광객 안내는 어떻게 하고 있습니까?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영어·중국어·일본어 안내 방송을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하고,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관광통역 1330과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연계해 현장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요원을 배치했습니다.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주변 시민께서도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외국인 관광객이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함께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대피하도록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도와주십시오.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다국어 안내   ② 현장 요원 배치   ③ 시민 협조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오준석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오늘신문 재난팀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지진 발생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12시 40분 ·</a:t>
            </a:r>
            <a:br>
              <a:rPr lang="en-US" sz="1150" b="1" dirty="0">
                <a:solidFill>
                  <a:srgbClr val="1F2433"/>
                </a:solidFill>
              </a:rPr>
            </a:br>
            <a:r>
              <a:rPr lang="en-US" sz="1150" b="1" dirty="0">
                <a:solidFill>
                  <a:srgbClr val="1F2433"/>
                </a:solidFill>
              </a:rPr>
              <a:t>규모 6.8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해일 도달 예상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</a:t>
            </a:r>
            <a:br>
              <a:rPr lang="en-US" sz="1150" b="1" dirty="0">
                <a:solidFill>
                  <a:srgbClr val="1F2433"/>
                </a:solidFill>
              </a:rPr>
            </a:br>
            <a:r>
              <a:rPr lang="en-US" sz="1150" b="1" dirty="0">
                <a:solidFill>
                  <a:srgbClr val="1F2433"/>
                </a:solidFill>
              </a:rPr>
              <a:t>1시 23분 (43분 뒤)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해수욕장 관광객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877명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침수된 해안 마을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5곳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실종 신고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4건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브리핑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3시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schoo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schoo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03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지진 · 언론 응대 ③ 초등학교 담임교사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수업 중 지진 발생. 4층 교실의 학생 26명이 동요하고 있습니다.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학생들 피해는 없습니까?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학생 422명 모두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운동장으로 대피했고,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부상 학생 2명은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보건실에서 응급처치를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받았습니다.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귀가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방법은 학교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문자로 안내드리겠습니다.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대피·응급처치   ③ 귀가 안내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학부모들이 학교로 몰리고 있습니다. 어떻게 해야 합니까?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학생은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명단으로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확인한 뒤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보호자에게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한 명씩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인계합니다.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인계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장소와 시간은 학교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문자로 안내드리니,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정문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앞에서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차분히 순서를 기다려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보호자 인계 절차   ② 안내 창구   ③ 현장 질서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학교 건물 안전은 확인됐습니까?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전문가가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건물 안전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점검을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하고 있고 결과는 교육청이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공개하겠습니다.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점검이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끝날 때까지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등교는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멈추고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원격수업으로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운영합니다.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안전 점검   ② 결과 공개   ③ 수업 운영 안내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pic>
        <p:nvPicPr>
          <p:cNvPr id="31" name="Image 5" descr="/home/claude/edu/img/me_police_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691640"/>
            <a:ext cx="548640" cy="7132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555480" y="1581912"/>
            <a:ext cx="2087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행동요령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지진 현장 다섯 가지</a:t>
            </a:r>
            <a:endParaRPr lang="en-US" sz="2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2773375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08008" y="2496312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흔들릴 때 →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탁자 아래, 머리 보호</a:t>
            </a:r>
            <a:endParaRPr lang="en-US" sz="14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3528670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208008" y="3251606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멈춘 뒤 → 계단으로,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넓은 공터로</a:t>
            </a:r>
            <a:endParaRPr lang="en-US" sz="14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4283964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208008" y="4006901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건물 외벽·간판·유리창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아래 피하기</a:t>
            </a:r>
            <a:endParaRPr lang="en-US" sz="14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5039258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208008" y="4762195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해안 → 지진해일 경보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즉시 높은 곳으로</a:t>
            </a:r>
            <a:endParaRPr lang="en-US" sz="14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5794553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208008" y="5517490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여진 대비,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기상청·재난문자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bla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bla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04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폭발 · 상황 브리핑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주택 가스 누출 의심 · 화학공장 폭발 · 유독가스 확산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5510632" cy="4956048"/>
          </a:xfrm>
          <a:prstGeom prst="roundRect">
            <a:avLst>
              <a:gd name="adj" fmla="val 2214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brief_b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1527048"/>
            <a:ext cx="5291176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58368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①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532888"/>
            <a:ext cx="514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11월 22일 밤 9시 10분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○○동 다세대주택 (6세대) 2층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081528"/>
            <a:ext cx="5144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433"/>
                </a:solidFill>
              </a:rPr>
              <a:t>밤 9시 10분, "집 안에 가스 냄새가 심하다"는 신고가</a:t>
            </a:r>
            <a:br>
              <a:rPr lang="en-US" sz="1250" dirty="0">
                <a:solidFill>
                  <a:srgbClr val="1F2433"/>
                </a:solidFill>
              </a:rPr>
            </a:br>
            <a:r>
              <a:rPr lang="en-US" sz="1250" dirty="0">
                <a:solidFill>
                  <a:srgbClr val="1F2433"/>
                </a:solidFill>
              </a:rPr>
              <a:t>들어왔습니다. 배관이 낡은 다세대주택으로 6세대에</a:t>
            </a:r>
            <a:br>
              <a:rPr lang="en-US" sz="1250" dirty="0">
                <a:solidFill>
                  <a:srgbClr val="1F2433"/>
                </a:solidFill>
              </a:rPr>
            </a:br>
            <a:r>
              <a:rPr lang="en-US" sz="1250" dirty="0">
                <a:solidFill>
                  <a:srgbClr val="1F2433"/>
                </a:solidFill>
              </a:rPr>
              <a:t>주민 14명이 삽니다. 먼저 도착한 측정 결과 가스 농도가</a:t>
            </a:r>
            <a:br>
              <a:rPr lang="en-US" sz="1250" dirty="0">
                <a:solidFill>
                  <a:srgbClr val="1F2433"/>
                </a:solidFill>
              </a:rPr>
            </a:br>
            <a:r>
              <a:rPr lang="en-US" sz="1250" dirty="0">
                <a:solidFill>
                  <a:srgbClr val="1F2433"/>
                </a:solidFill>
              </a:rPr>
              <a:t>2870ppm으로 폭발 위험 수준입니다. 작은 불꽃 하나로도</a:t>
            </a:r>
            <a:br>
              <a:rPr lang="en-US" sz="1250" dirty="0">
                <a:solidFill>
                  <a:srgbClr val="1F2433"/>
                </a:solidFill>
              </a:rPr>
            </a:br>
            <a:r>
              <a:rPr lang="en-US" sz="1250" dirty="0">
                <a:solidFill>
                  <a:srgbClr val="1F2433"/>
                </a:solidFill>
              </a:rPr>
              <a:t>폭발할 수 있는 상황에서 당신이 2층 현관 앞에 섰습니다.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94360" y="4325112"/>
            <a:ext cx="5236312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16" name="Image 3" descr="/home/claude/edu/img/npc_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370832"/>
            <a:ext cx="347472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352544"/>
            <a:ext cx="466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서경민 씨 · 다세대주택 주민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원인 확인 · 이웃 · 다시 쓸 수 있는지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94360" y="4946904"/>
            <a:ext cx="5236312" cy="1316736"/>
          </a:xfrm>
          <a:prstGeom prst="roundRect">
            <a:avLst>
              <a:gd name="adj" fmla="val 5556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31520" y="4983480"/>
            <a:ext cx="49619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불꽃 · 전기 스위치 사용 금지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밸브 잠그고 창문 열고 밖으로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밖에서 신고 · 이웃은 노크와 말로 알리기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23864" y="1417320"/>
            <a:ext cx="5510632" cy="4956048"/>
          </a:xfrm>
          <a:prstGeom prst="roundRect">
            <a:avLst>
              <a:gd name="adj" fmla="val 2214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home/claude/edu/img/brief_b2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33592" y="1527048"/>
            <a:ext cx="5291176" cy="9144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25032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425032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②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406744" y="2532888"/>
            <a:ext cx="5144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6월 30일 오후 1시 10분 · 남서풍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○○산업단지 인근 주거지 (반경 1.5km · 2321가구)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6406744" y="3081528"/>
            <a:ext cx="5144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433"/>
                </a:solidFill>
              </a:rPr>
              <a:t>오후 1시 10분, 산업단지 화학공장에서 큰 폭발음이 들렸습니다.</a:t>
            </a:r>
            <a:br>
              <a:rPr lang="en-US" sz="1250" dirty="0">
                <a:solidFill>
                  <a:srgbClr val="1F2433"/>
                </a:solidFill>
              </a:rPr>
            </a:br>
            <a:r>
              <a:rPr lang="en-US" sz="1250" dirty="0">
                <a:solidFill>
                  <a:srgbClr val="1F2433"/>
                </a:solidFill>
              </a:rPr>
              <a:t>근로자 10명이 다쳐 병원으로 옮겨졌고,</a:t>
            </a:r>
            <a:br>
              <a:rPr lang="en-US" sz="1250" dirty="0">
                <a:solidFill>
                  <a:srgbClr val="1F2433"/>
                </a:solidFill>
              </a:rPr>
            </a:br>
            <a:r>
              <a:rPr lang="en-US" sz="1250" dirty="0">
                <a:solidFill>
                  <a:srgbClr val="1F2433"/>
                </a:solidFill>
              </a:rPr>
              <a:t>3명은 아직 연락이 닿지 않습니다.</a:t>
            </a:r>
            <a:br>
              <a:rPr lang="en-US" sz="1250" dirty="0">
                <a:solidFill>
                  <a:srgbClr val="1F2433"/>
                </a:solidFill>
              </a:rPr>
            </a:br>
            <a:r>
              <a:rPr lang="en-US" sz="1250" dirty="0">
                <a:solidFill>
                  <a:srgbClr val="1F2433"/>
                </a:solidFill>
              </a:rPr>
              <a:t>검은 연기가 바람을 타고 주택가로 흘러와 시청이 반경 1.5km,</a:t>
            </a:r>
            <a:br>
              <a:rPr lang="en-US" sz="1250" dirty="0">
                <a:solidFill>
                  <a:srgbClr val="1F2433"/>
                </a:solidFill>
              </a:rPr>
            </a:br>
            <a:r>
              <a:rPr lang="en-US" sz="1250" dirty="0">
                <a:solidFill>
                  <a:srgbClr val="1F2433"/>
                </a:solidFill>
              </a:rPr>
              <a:t>2321가구에 "창문을 닫고 실내에 머물라"는 문자를 보냈습니다.</a:t>
            </a:r>
            <a:br>
              <a:rPr lang="en-US" sz="1250" dirty="0">
                <a:solidFill>
                  <a:srgbClr val="1F2433"/>
                </a:solidFill>
              </a:rPr>
            </a:br>
            <a:r>
              <a:rPr lang="en-US" sz="1250" dirty="0">
                <a:solidFill>
                  <a:srgbClr val="1F2433"/>
                </a:solidFill>
              </a:rPr>
              <a:t>주민 안내를 맡은 당신이 동네를 돌고 있습니다.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361024" y="4325112"/>
            <a:ext cx="5236312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27" name="Image 5" descr="/home/claude/edu/img/npc_b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3320" y="4370832"/>
            <a:ext cx="347472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863944" y="4352544"/>
            <a:ext cx="466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임하나 씨 · 산업단지 인근 주민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구경 · 냄새 · 아이 · 건강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361024" y="4946904"/>
            <a:ext cx="5236312" cy="1316736"/>
          </a:xfrm>
          <a:prstGeom prst="roundRect">
            <a:avLst>
              <a:gd name="adj" fmla="val 5556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498184" y="4983480"/>
            <a:ext cx="49619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현장 접근 금지 · 실내 대피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창문 닫고 환기 장치 끄기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증상 있으면 의료 기관 · 공식 발표 확인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4206240" y="6446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 latinLnBrk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3A6"/>
                </a:solidFill>
              </a:rPr>
              <a:t>※ 이야기 속 수치는 예시입니다. 게임에서는 현장에 들어갈 때마다 새 수치가 나옵니다.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bla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bla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04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폭발 · 구조대상자 응대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주택 가스 누출 의심 · 화학공장 폭발 · 유독가스 확산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npc_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78838"/>
            <a:ext cx="438912" cy="57058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07008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서경민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다세대주택 주민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94360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집에서 가스 냄새가 나요!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불 켜서 확인해볼까요?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4360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1520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절대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전등 스위치나 라이터를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켜지 마세요.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작은 불꽃에도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폭발합니다. 가스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중간밸브를</a:t>
            </a:r>
            <a:br>
              <a:rPr lang="en-US" sz="1400" b="1" dirty="0">
                <a:solidFill>
                  <a:srgbClr val="C62828"/>
                </a:solidFill>
              </a:rPr>
            </a:br>
            <a:r>
              <a:rPr lang="en-US" sz="1400" b="1" dirty="0">
                <a:solidFill>
                  <a:srgbClr val="C62828"/>
                </a:solidFill>
              </a:rPr>
              <a:t>잠그고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창문을 열어 환기해 주세요.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전기·불꽃 금지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중간밸브 잠그기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창문 열어 환기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07738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/home/claude/edu/img/npc_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18" y="1678838"/>
            <a:ext cx="438912" cy="5705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57546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서경민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다세대주택 주민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444898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582058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옆집에도 알려줘야 할까요?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초인종 누르면 되죠?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44898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2058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초인종은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전기 스파크가 생겨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위험해요. 문을 두드리거나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큰 소리로 이웃에게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알려서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함께 대피하세요.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44898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82058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초인종 금지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노크·말로 알리기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이웃 대피 안내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58277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/home/claude/edu/img/npc_b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157" y="1678838"/>
            <a:ext cx="438912" cy="57058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08085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임하나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산업단지 인근 주민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95437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432597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아이가 학교에 있는데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데리러 가야 하나요?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295437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432597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학교에서 아이들을 실내에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보호하고 있어요.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지금 밖을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이동하시는 게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더 위험합니다.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학교 문자와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재난문자 안내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를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확인하며 기다려 주세요.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95437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432597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학교 보호 조치 안내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이동 자제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공식 안내 확인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gaslea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gaslea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04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폭발 · 언론 응대 ① 다세대주택 주민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주거지 가스 누출 의심 신고. 폭발 위험이 있어 긴급 출동했습니다.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가스 누출 원인은 무엇입니까?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원인은 가스안전공사 점검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결과가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나오면 발표하겠습니다.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현재 공급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밸브를 차단했고,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건물 주민 14명의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대피를 확인했습니다.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추측·단정 금지   ② 현재 조치   ③ 확인된 사실(언제·어디·얼마나)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인근 주민들은 무엇을 조심해야 합니까?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주변에서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담배와 라이터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같은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화기를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쓰지 말아 주십시오.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통제선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안으로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다가오지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마시고,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가스 냄새가 나면 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119나 도시가스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회사에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신고해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불꽃·전기 금지   ② 현장 접근 금지   ③ 냄새 나면 신고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주민들은 언제 집에 돌아갈 수 있습니까?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누설 점검으로 안전을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확인한 뒤 복귀하실 수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복귀 시각은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문자로 알려드리고,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그동안 주민센터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임시 대피소를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이용하실 수 있습니다.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점검 뒤 복귀   ② 안내 방법   ③ 임시 지원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오준석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오늘신문 재난팀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신고 시각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밤 9시 10분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건물 세대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6세대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대피 확인 주민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14명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측정 가스 농도 </a:t>
            </a:r>
            <a:br>
              <a:rPr lang="en-US" sz="1050" dirty="0">
                <a:solidFill>
                  <a:srgbClr val="5B6478"/>
                </a:solidFill>
              </a:rPr>
            </a:br>
            <a:r>
              <a:rPr lang="en-US" sz="1050" dirty="0">
                <a:solidFill>
                  <a:srgbClr val="5B6478"/>
                </a:solidFill>
              </a:rPr>
              <a:t/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2870ppm (폭발 위험)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안내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밤 11시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bla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bla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04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폭발 · 언론 응대 ② 산업단지 인근 주민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인근 화학공장에서 폭발이 발생했습니다. 검은 연기가 주거지 쪽으로 흐릅니다.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폭발로 인한 인명 피해는 어떻습니까?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공장 근로자 10명이 다쳐 병원으로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이송됐고,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연락이 닿지 않는 3명을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수색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중입니다. 확인되는 대로 오후 3시에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브리핑하겠습니다.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현재 조치   ③ 다음 발표 시각·창구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어떤 화학물질이 유출됐습니까? 주민 건강은 괜찮습니까?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유출 물질은 환경당국이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분석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중이며 결과가 나오는 즉시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공개하겠습니다.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결과 전까지 인근 주민께서는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실내에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머물고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창문을 닫아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측정·분석 진행   ② 결과 공개   ③ 실내 대피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공장 안전관리에 문제가 있었던 것 아닙니까?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안전관리 문제는 합동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조사로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밝혀 그대로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공개하겠습니다.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지금은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실종자 수색과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주민 안전 확보가 가장 먼저입니다.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추측·단정 금지   ② 공개 약속   ③ 지금 우선순위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pic>
        <p:nvPicPr>
          <p:cNvPr id="31" name="Image 5" descr="/home/claude/edu/img/me_gov_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691640"/>
            <a:ext cx="548640" cy="7132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555480" y="1581912"/>
            <a:ext cx="2087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행동요령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폭발 현장 다섯 가지</a:t>
            </a:r>
            <a:endParaRPr lang="en-US" sz="2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2773375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08008" y="2496312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가스 냄새 →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스위치·라이터·초인종 금지</a:t>
            </a:r>
            <a:endParaRPr lang="en-US" sz="14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3528670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208008" y="3251606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중간밸브 잠그고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창문 열어 환기</a:t>
            </a:r>
            <a:endParaRPr lang="en-US" sz="14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4283964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208008" y="4006901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밖으로 나온 뒤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119·도시가스 신고</a:t>
            </a:r>
            <a:endParaRPr lang="en-US" sz="14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5039258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208008" y="4762195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화학 폭발 → 실내 대피,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창문 닫고 환기장치 끄기</a:t>
            </a:r>
            <a:endParaRPr lang="en-US" sz="14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5794553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208008" y="5517490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현장 접근·촬영 금지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(2차 폭발 위험)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he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hea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05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폭염 · 상황 브리핑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폭염경보 체감 37℃ · 열대야 · 차 안 아이 방치 위험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brief_w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1527048"/>
            <a:ext cx="3368954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58368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①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8월 5일 오후 2시 40분 ·</a:t>
            </a:r>
            <a:br>
              <a:rPr lang="en-US" sz="1050" dirty="0">
                <a:solidFill>
                  <a:srgbClr val="1F2433"/>
                </a:solidFill>
              </a:rPr>
            </a:br>
            <a:r>
              <a:rPr lang="en-US" sz="1050" dirty="0">
                <a:solidFill>
                  <a:srgbClr val="1F2433"/>
                </a:solidFill>
              </a:rPr>
              <a:t>폭염경보 · 체감온도 37도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○○동 아파트 건설현장 (근로자 94명)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오후 2시 40분, 체감온도 37도. 그늘 하나 없는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철근 작업장에서 근로자 94명이 오전부터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일하고 있습니다. 공정이 밀려 쉬는 시간도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줄었고, 오늘만 3명이 온열질환 증상으로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병원에 실려 갔습니다. 폭염 현장 점검을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나온 당신에게 작업 반장이 다가옵니다.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옆에서는 또 한 작업자가 비틀거립니다.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16" name="Image 3" descr="/home/claude/edu/img/npc_w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553712"/>
            <a:ext cx="347472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조성훈 반장 · 건설현장 노동자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작업량 · 동료 상태 · 회사 눈치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94360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31520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물 · 그늘 · 휴식 원칙 지키기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열사병 의심되면</a:t>
            </a:r>
            <a:br>
              <a:rPr lang="en-US" sz="1150" b="1" dirty="0">
                <a:solidFill>
                  <a:srgbClr val="1B2A4A"/>
                </a:solidFill>
              </a:rPr>
            </a:br>
            <a:r>
              <a:rPr lang="en-US" sz="1150" b="1" dirty="0">
                <a:solidFill>
                  <a:srgbClr val="1B2A4A"/>
                </a:solidFill>
              </a:rPr>
              <a:t>즉시 119와 몸 식히기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작업 중지 권리와 신고 창구 안내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01642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home/claude/edu/img/brief_w2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11370" y="1527048"/>
            <a:ext cx="3368954" cy="9144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02810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02810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②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484522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8월 12일 저녁 7시 20분 · 열대야 10일째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○○동 언덕길 옥탑방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4484522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10일째 밤에도 기온이 25도 아래로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내려가지 않습니다. 구는 홀로 사는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어르신 1693명의 안부를 하루 두 번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확인하고, 무더위쉼터 101곳을 밤 9시까지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열었습니다. 저녁 7시 20분, 당신이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옥탑방 문을 두드립니다. 방 안 온도는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31도, 선풍기 한 대만 돌아가고 있습니다.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438802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27" name="Image 5" descr="/home/claude/edu/img/npc_w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098" y="4553712"/>
            <a:ext cx="347472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941722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남복례 어르신 · 혼자 사는 어르신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전기요금 · 쉼터 · 혼자 지내기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438802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575962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더운 시간 외출</a:t>
            </a:r>
            <a:br>
              <a:rPr lang="en-US" sz="1150" b="1" dirty="0">
                <a:solidFill>
                  <a:srgbClr val="1B2A4A"/>
                </a:solidFill>
              </a:rPr>
            </a:br>
            <a:r>
              <a:rPr lang="en-US" sz="1150" b="1" dirty="0">
                <a:solidFill>
                  <a:srgbClr val="1B2A4A"/>
                </a:solidFill>
              </a:rPr>
              <a:t>자제와 시원한 곳 머물기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물 자주 마시기 · 무더위쉼터 안내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어지러울 때 연락할 곳 정하기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46085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6" descr="/home/claude/edu/img/brief_w3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55813" y="1527048"/>
            <a:ext cx="3368954" cy="9144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347253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47253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③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328965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7월 30일 오후 1시 20분 ·</a:t>
            </a:r>
            <a:br>
              <a:rPr lang="en-US" sz="1050" dirty="0">
                <a:solidFill>
                  <a:srgbClr val="1F2433"/>
                </a:solidFill>
              </a:rPr>
            </a:br>
            <a:r>
              <a:rPr lang="en-US" sz="1050" dirty="0">
                <a:solidFill>
                  <a:srgbClr val="1F2433"/>
                </a:solidFill>
              </a:rPr>
              <a:t>폭염주의보 · 기온 35도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○○대형마트 야외 주차장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8328965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오후 1시 20분, 바깥 기온 35도. 햇볕에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주차장 바닥이 달아올랐고, 이대로라면 15분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뒤 차 안은 47도를 넘습니다. 마트 앞 무더위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쉼터에서 안내 봉사를 하던 당신에게 한 아빠가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다가옵니다. 5살 아이가 차 안에서 잠들었다며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20분만 장을 보고 오겠다고 합니다.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8283245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38" name="Image 7" descr="/home/claude/edu/img/npc_w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5541" y="4553712"/>
            <a:ext cx="347472" cy="4572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786165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유민재 아빠 · 아이 동반 보호자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아이 깨우기 · 장보기 시간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8283245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420405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아이를 차 안에 혼자 두지 않기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아이 열 증상 살피고 그늘 · 물 주기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폭염 특보 확인 방법 안내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4206240" y="6446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 latinLnBrk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3A6"/>
                </a:solidFill>
              </a:rPr>
              <a:t>※ 이야기 속 수치는 예시입니다. 게임에서는 현장에 들어갈 때마다 새 수치가 나옵니다.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he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hea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05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폭염 · 구조대상자 응대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폭염경보 체감 37℃ · 열대야 · 차 안 아이 방치 위험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npc_w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78838"/>
            <a:ext cx="438912" cy="57058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07008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유민재 아빠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아이 동반 보호자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94360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잠깐 장 보고 올게요. 아이는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에어컨 켜고 차에 두면 되죠?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4360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1520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절대 안 됩니다.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시동이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꺼지거나 에어컨이 멈추면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차 안은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몇 분 만에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위험한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온도가 돼요. 짧은 시간이라도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아이를 꼭 데리고 가세요.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절대 혼자 두지 않기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차 안 온도 급상승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아이와 함께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07738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/home/claude/edu/img/npc_w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18" y="1678838"/>
            <a:ext cx="438912" cy="5705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57546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조성훈 반장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건설현장 노동자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444898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582058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동료가 쓰러졌는데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말을 이상하게 해요!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44898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2058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바로 119에 신고하세요.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시원한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곳으로 옮겨 옷을 풀고 물을 적셔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부채질해 주세요.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의식이 흐리면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물을 억지로 먹이면 안 됩니다.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44898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82058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119 신고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몸 식히기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의식 없으면 물 먹이지 않기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58277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/home/claude/edu/img/npc_w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157" y="1678838"/>
            <a:ext cx="438912" cy="57058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08085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남복례 어르신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혼자 사는 어르신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95437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432597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자식들이 멀리 살아서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연락할 사람이 없어요.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295437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432597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혼자가 아니세요.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노인맞춤돌봄서비스로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생활지원사가 안부를 챙기러 오고,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응급안전 장치도 달 수 있어요.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제가 오늘 신청을 도와드릴게요.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95437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432597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돌봄·안부 서비스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응급 연락 수단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외로움 공감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constru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construc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05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폭염 · 언론 응대 ① 건설현장 노동자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폭염경보, 체감온도 37도. 그늘 없는 건설현장에서 작업이 계속되고 있습니다.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건설현장 온열질환자 발생 상황은 어떻습니까?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오늘 이 현장에서 근로자 3명이 온열질환 증상으로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병원에 이송됐고,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현재 모두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치료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중입니다. 지역 전체 현황은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질병관리청 집계로 매일 공개합니다.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치료·이송   ③ 공식 집계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폭염 속 작업 중지 기준이 있습니까?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매시간 그늘 휴식은 산업안전보건 규칙에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따른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사업주 의무입니다.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오후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2~5시에는 작업을 줄이도록 지도하고 있으며,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지켜지지 않으면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고용노동부 1350으로 신고해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휴식 기준   ② 사업주 의무   ③ 신고 창구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근로자들에게 당부할 말은 무엇입니까?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목마르지 않아도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물을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자주 드시고,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어지럽거나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메스꺼우면 바로 작업을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멈추고 그늘에서 쉬십시오.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동료가 쓰러지면 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119에 신고해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물 자주 마시기   ② 증상 있으면 작업 중지   ③ 쓰러지면 119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정다은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새벽일보 사회부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점검 시각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2시 40분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체감온도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37도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오늘 현장 근로자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94명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온열질환 이송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3명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작업 중지 점검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4시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roof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roof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05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폭염 · 언론 응대 ② 혼자 사는 어르신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열흘째 열대야. 옥탑방에 사는 어르신 댁을 방문했습니다.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홀로 사는 어르신 안부 확인은 어떻게 하고 있습니까?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홀로 사는 어르신 1693명을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생활지원사가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하루 두 번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전화와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방문으로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확인하고 있습니다.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응급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상황이면 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119와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연계해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이송합니다.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돌봄 조치   ③ 응급 연계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무더위쉼터는 충분합니까?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무더위쉼터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101곳을 밤 9시까지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연장 운영합니다.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위치는 안전디딤돌 앱과 주민센터에서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확인하실 수 있고,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거동이 불편한 어르신은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차량으로 모셔다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드립니다.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운영 현황   ② 위치 안내   ③ 이동 지원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전기요금 부담으로 냉방을 못 하는 가구 대책은 무엇입니까?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에너지바우처로 냉방비를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지원하고 있습니다.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주민센터에서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신청하실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수 있고,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그 사이에는 가까운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경로당 무더위쉼터를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이용해 주십시오.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요금 지원   ② 신청 방법   ③ 대안 공간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최현우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KCL뉴스 현장팀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방문 시각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저녁 7시 20분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열대야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10일째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옥탑방 실내 온도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31도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구에서 돌보는 홀몸 어르신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1693명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밤 9시까지 여는 무더위쉼터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101곳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park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park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05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폭염 · 언론 응대 ③ 아이 동반 보호자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폭염주의보. 대형마트 주차장, 한낮 기온 35도입니다.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차 안에 아이가 남겨진 사고가 있었다는데 상태는 어떻습니까?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아이는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병원으로 이송돼 치료를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받고 있으며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 의식이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보호자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신상은 공개하지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않겠습니다.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짧은 시간이라도 아이를 차 안에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혼자 두지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말아 주십시오.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상태   ② 개인정보 보호   ③ 시민 당부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차 안 온도는 얼마나 빨리 올라갑니까?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한여름 차 안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온도는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몇 분 만에 위험 수준으로 오른다는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소방 실험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결과가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내리기 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뒷좌석을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꼭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확인하고,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아이와 반려동물을 함께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데리고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내려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위험 정보   ② 근거 출처   ③ 행동 당부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차 안에 갇힌 아이를 보면 시민은 어떻게 해야 합니까?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바로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119에 신고해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 위급하면 아이와 먼 쪽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창문을 깨서 구조할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수 있고,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꺼낸 뒤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그늘에서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몸을 식혀 주십시오.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즉시 신고   ② 구조 방법   ③ 꺼낸 뒤 체온 낮추기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pic>
        <p:nvPicPr>
          <p:cNvPr id="31" name="Image 5" descr="/home/claude/edu/img/me_blue_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691640"/>
            <a:ext cx="548640" cy="7132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555480" y="1581912"/>
            <a:ext cx="2087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행동요령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폭염 현장 다섯 가지</a:t>
            </a:r>
            <a:endParaRPr lang="en-US" sz="2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2773375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08008" y="2496312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목마르지 않아도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물 조금씩 자주</a:t>
            </a:r>
            <a:endParaRPr lang="en-US" sz="14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3528670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208008" y="3251606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오후 2~5시 야외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작업·활동 줄이기</a:t>
            </a:r>
            <a:endParaRPr lang="en-US" sz="14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4283964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208008" y="4006901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어지러움·메스꺼움 →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즉시 그늘에서 휴식</a:t>
            </a:r>
            <a:endParaRPr lang="en-US" sz="14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5039258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208008" y="4762195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땀 멈춤·뜨거운 피부 →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열사병 의심, 119</a:t>
            </a:r>
            <a:endParaRPr lang="en-US" sz="14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5794553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208008" y="5517490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아이·어르신 차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안에 혼자 두지 않기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collap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collap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06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건물붕괴 · 상황 브리핑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상가건물 붕괴 · 매몰자 전화 연결 · 통제선 앞 시민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brief_c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1527048"/>
            <a:ext cx="3368954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58368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①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10월 2일 오후 2시 10분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○○동 4층 상가건물 붕괴 현장 · 전화 연결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오후 2시 10분, 노후 상가건물 한쪽이 무너지며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지하 1층과 1층이 잔해에 묻혔습니다. 지금까지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연락이 닿지 않는 사람은 8명이고, 구조 인력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96명과 구조견이 투입됐습니다. 오후 3시 30분,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안에 갇힌 한 사람과 휴대폰이 연결됐습니다.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배터리는 10% 남았습니다. 상황실에서 통화를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맡은 당신이 생존자 목소리를 듣고 있습니다.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16" name="Image 3" descr="/home/claude/edu/img/npc_c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553712"/>
            <a:ext cx="347472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신동욱 씨 · 매몰 생존자 (전화 연결)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통증 · 숨쉬기 · 살 수 있는지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94360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31520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침착하게 호흡과 체력 아끼기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두드리기 신호 · 배터리 아끼는 법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구조대가 가고 있다는 희망 전하기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01642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home/claude/edu/img/brief_c2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11370" y="1527048"/>
            <a:ext cx="3368954" cy="9144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02810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02810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②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484522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10월 2일 오후 2시 40분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○○동 상가건물 붕괴 현장 통제선 앞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4484522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건물이 무너진 지 30분, 8명이 잔해 아래 있는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것으로 추정됩니다. 구조대가 작업 중인 현장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주변으로 시민 181명이 몰렸고, 건물에서 57m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떨어진 통제선을 넘으려는 사람도 있습니다.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가스 냄새를 맡았다는 말까지 나옵니다. 현장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통제를 맡은 당신 앞에 한 시민이 다가옵니다.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438802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27" name="Image 5" descr="/home/claude/edu/img/npc_c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098" y="4553712"/>
            <a:ext cx="347472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941722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김도윤 씨 · 현장 목격 시민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안에 있는 사람 · 돕고 싶은 마음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438802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575962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통제선 밖으로 물러나게 하기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본 내용은 구조대에 바로 전달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촬영 · 소문 자제와 도울 방법 안내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46085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6" descr="/home/claude/edu/img/bg_oldapt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55813" y="1527048"/>
            <a:ext cx="3368954" cy="9144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347253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47253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③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328965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2월 17일 밤 11시 30분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○○아파트 (준공 40년) 3동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8328965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밤 11시 30분부터 "벽에서 뚝뚝 소리가 나고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금이 번진다"는 신고가 11건 이어졌습니다.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문이 잘 닫히지 않고 천장에서 가루가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떨어진다는 집도 있습니다. 구청은 56세대,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주민 148명에게 대피를 권했고 임시 숙소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4곳을 마련했습니다. 긴급 안전 점검을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나온 당신이 3층 복도에 들어섰습니다.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8283245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38" name="Image 7" descr="/home/claude/edu/img/npc_c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5541" y="4553712"/>
            <a:ext cx="347472" cy="4572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786165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장옥희 씨 · 노후 아파트 주민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괜찮은지 · 귀중품 · 보상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8283245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420405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붕괴 징후면 즉시 건물 밖으로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계단 이용 · 거동 불편 이웃 함께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임시 거처와 점검 일정 안내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4206240" y="6446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 latinLnBrk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3A6"/>
                </a:solidFill>
              </a:rPr>
              <a:t>※ 이야기 속 수치는 예시입니다. 게임에서는 현장에 들어갈 때마다 새 수치가 나옵니다.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collap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collap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06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건물붕괴 · 구조대상자 응대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상가건물 붕괴 · 매몰자 전화 연결 · 통제선 앞 시민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npc_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78838"/>
            <a:ext cx="438912" cy="57058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07008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신동욱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매몰 생존자 (전화 연결)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94360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건물이 무너졌어요… 다리가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깔렸어요. 너무 아파요.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4360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1520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지금 구조대가 찾고 있어요.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다리를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억지로 빼려고</a:t>
            </a:r>
            <a:br>
              <a:rPr lang="en-US" sz="1400" b="1" dirty="0">
                <a:solidFill>
                  <a:srgbClr val="C62828"/>
                </a:solidFill>
              </a:rPr>
            </a:br>
            <a:r>
              <a:rPr lang="en-US" sz="1400" b="1" dirty="0">
                <a:solidFill>
                  <a:srgbClr val="C62828"/>
                </a:solidFill>
              </a:rPr>
              <a:t>하지 마세요.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주변에 뭐가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보이는지, 지금 몸 상태가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어떤지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천천히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말해 주세요.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구조 진행 중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무리하게 빼지 않기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위치·상태 파악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07738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/home/claude/edu/img/npc_c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18" y="1678838"/>
            <a:ext cx="438912" cy="5705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57546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김도윤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현장 목격 시민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444898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582058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제가 들어가서 사람 꺼낼게요!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44898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2058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마음은 정말 고맙지만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추가</a:t>
            </a:r>
            <a:br>
              <a:rPr lang="en-US" sz="1400" b="1" dirty="0">
                <a:solidFill>
                  <a:srgbClr val="C62828"/>
                </a:solidFill>
              </a:rPr>
            </a:br>
            <a:r>
              <a:rPr lang="en-US" sz="1400" b="1" dirty="0">
                <a:solidFill>
                  <a:srgbClr val="C62828"/>
                </a:solidFill>
              </a:rPr>
              <a:t>붕괴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로 두 분 다 다칠 수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있어요. 구조는 전문 구조대에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맡기시고, 대신 본 것을 저에게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알려주시면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큰 도움이 됩니다.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44898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82058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진입 금지·추가 붕괴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전문 구조대에 맡기기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대신 할 일 부여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58277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/home/claude/edu/img/npc_c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157" y="1678838"/>
            <a:ext cx="438912" cy="57058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08085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신동욱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매몰 생존자 (전화 연결)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95437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432597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저 정말 살 수 있을까요?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가족이 보고 싶어요.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295437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432597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포기하지 마세요. 구조대가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반드시 구할 거예요.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가족분께 하고 싶은 말은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제가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꼭 전해 드릴게요.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끝까지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제가 같이 있겠습니다.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95437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432597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희망 주기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가족에게 전달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곁에 있음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collap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collap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06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건물붕괴 · 언론 응대 ① 매몰 생존자 (전화 연결)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상가건물 붕괴. 잔해 아래 갇힌 생존자와 전화가 연결됐습니다.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매몰자는 몇 명이고 생존 가능성은 어떻습니까?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연락이 닿지 않는 분은 8명입니다.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구조대는 생존자가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있다는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전제로 수색하고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가족분들께는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현장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가족지원실에서 먼저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알려드립니다.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생존 전제 수색   ③ 가족 먼저 안내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매몰자와 통화가 됐다는데 사실입니까?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매몰자 한 분과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통화가 연결된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사실을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확인했습니다.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신상은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가족 동의 없이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않겠습니다.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구조대가 위치를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좁혀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진입로를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확보하고 있습니다.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범위   ② 개인정보 보호   ③ 구조 진행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구조는 언제 끝납니까?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추가 붕괴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위험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때문에 끝나는 시간을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단정하기 어렵습니다.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현재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중장비와 구조견을 투입해 작업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중이며,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진행 상황은 오후 5시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브리핑에서 알려드리겠습니다.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시간 단정하지 않기   ② 작업 진행 상황   ③ 다음 발표 시각·창구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최현우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KCL뉴스 현장팀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붕괴 발생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2시 10분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통화 연결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3시 30분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연락이 닿지 않는 사람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8명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투입 구조 인력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96명 · 구조견 투입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생존자 휴대폰 배터리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10%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브리핑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5시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collap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collap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06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건물붕괴 · 언론 응대 ② 현장 목격 시민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붕괴 현장 주변. 시민들이 몰려들어 통제선 안으로 들어가려 합니다.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현장에 시민들이 몰려 구조에 방해가 된다는데요?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시민 여러분께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통제선 밖으로 물러나 주시길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부탁드립니다.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추가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붕괴 위험이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있고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구조차량 길을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비워야 합니다.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목격 정보가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있으면 현장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안내소에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알려 주십시오.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통제선 밖으로   ② 이유 설명   ③ 도울 방법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SNS에 현장 영상이 퍼지고 있습니다.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피해자와 가족 보호를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위해 현장 영상 게시를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자제해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정확한 정보는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공식 브리핑으로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알려드리겠습니다.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게시 자제   ② 피해자 보호   ③ 공식 정보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기부와 자원봉사는 어떻게 할 수 있습니까?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기부는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지자체와 적십자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같은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공식 창구로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해 주십시오.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물품은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필요한 품목을 확인한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뒤 보내 주시고,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헌혈은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가까운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헌혈의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집에서 하실 수 있습니다.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공식 창구   ② 필요 품목 확인   ③ 헌혈 안내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한서진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한빛방송 보도국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현재 시각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2시 40분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통제선 주변 시민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181명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통제선 거리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건물에서 57m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매몰 추정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8명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브리핑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4시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oldap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oldap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06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건물붕괴 · 언론 응대 ③ 노후 아파트 주민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노후 아파트에서 "뚝뚝" 소리와 함께 벽에 균열이 번지고 있다는 신고입니다.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아파트 붕괴 위험은 어느 정도입니까?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전문가가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긴급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안전진단을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하고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현재 주민 56세대 전원이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대피했고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건물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출입을 통제했습니다.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진단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결과는 구청이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공개하겠습니다.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안전진단 진행   ② 현재 조치   ③ 결과 공개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주민들은 어디서 지냅니까?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주민은 인근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임시 숙소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4곳에서 지내고 있으며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식사와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생활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물품을 지원합니다.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문의는 구청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재난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상황실 창구로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해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임시 거처   ② 생활 지원   ③ 문의 창구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관리 책임은 누구에게 있습니까?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책임은 원인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조사로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밝혀 그대로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공개하겠습니다.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그와 별도로 주민 피해 접수와 무료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법률 상담을 지원하고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있습니다.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추측·단정 금지   ② 공개 약속   ③ 주민 지원 우선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pic>
        <p:nvPicPr>
          <p:cNvPr id="31" name="Image 5" descr="/home/claude/edu/img/me_fire_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691640"/>
            <a:ext cx="548640" cy="7132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555480" y="1581912"/>
            <a:ext cx="2087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행동요령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건물붕괴 현장 다섯 가지</a:t>
            </a:r>
            <a:endParaRPr lang="en-US" sz="2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2773375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08008" y="2496312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균열·뚝뚝 소리·문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뒤틀림 → 즉시 대피, 신고</a:t>
            </a:r>
            <a:endParaRPr lang="en-US" sz="14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3528670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208008" y="3251606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매몰 시 체력 아끼기,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벽·파이프 두드려 신호</a:t>
            </a:r>
            <a:endParaRPr lang="en-US" sz="14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4283964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208008" y="4006901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라이터·불꽃 금지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(가스 누출 가능)</a:t>
            </a:r>
            <a:endParaRPr lang="en-US" sz="14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5039258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208008" y="4762195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현장 진입·촬영·SNS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게시 자제</a:t>
            </a:r>
            <a:endParaRPr lang="en-US" sz="14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5794553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208008" y="5517490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안전진단 전 건물 출입 금지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vir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viru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07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감염병확산 · 상황 브리핑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신종 호흡기 감염병 심각 단계 · 요양원 면회 중단 · 소문 확산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brief_v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1527048"/>
            <a:ext cx="3368954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58368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①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11월 9일 오전 8시 20분 ·</a:t>
            </a:r>
            <a:br>
              <a:rPr lang="en-US" sz="1050" dirty="0">
                <a:solidFill>
                  <a:srgbClr val="1F2433"/>
                </a:solidFill>
              </a:rPr>
            </a:br>
            <a:r>
              <a:rPr lang="en-US" sz="1050" dirty="0">
                <a:solidFill>
                  <a:srgbClr val="1F2433"/>
                </a:solidFill>
              </a:rPr>
              <a:t>감염병 위기 경보 '심각'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○○보건소 앞 선별진료소 상담 부스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신종 호흡기 감염병이 빠르게 퍼지며 위기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경보가 '심각'으로 올라갔습니다. 오늘 0시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기준 우리 지역 확진자는 153명입니다. 오전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8시 20분, 출근 전 시민 54명이 선별진료소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앞에 줄을 섰습니다. 상담 부스를 맡은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당신에게 열이 나는 직장인이 다가옵니다.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16" name="Image 3" descr="/home/claude/edu/img/npc_v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553712"/>
            <a:ext cx="347472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백승민 씨 · 의심 증상 직장인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출근 · 가족 · 회사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94360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31520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증상 있으면 출근 대신 검사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가족 보호와 생활 수칙 안내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가짜 정보 바로잡고 공식 창구 연결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301642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home/claude/edu/img/bg_nursing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11370" y="1527048"/>
            <a:ext cx="3368954" cy="9144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02810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502810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②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4484522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11월 12일 오후 1시 10분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○○요양원 정문 (입소자 66명)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4484522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입소자 66명이 지내는 요양원에서 입소자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13명, 직원 5명이 확진돼 면회가 전면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중단됐습니다. 시는 지역 요양시설 51곳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종사자 전수 검사를 시작했습니다. 오후 1시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10분, 소식을 들은 보호자들이 정문 앞에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모였고 일부는 항의하고 있습니다. 현장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안내를 나온 당신에게 한 보호자가 다가옵니다.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438802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27" name="Image 5" descr="/home/claude/edu/img/npc_v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098" y="4553712"/>
            <a:ext cx="347472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941722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홍지수 씨 · 요양원 입소자 보호자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어머니 상태 · 면회 · 가족 연락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438802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575962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면회 중단 이유를 공감하며 설명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상태 안내 창구와 영상통화 연결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보호자 검사 · 다른 가족 안내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46085" y="1417320"/>
            <a:ext cx="3588410" cy="4956048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2" name="Image 6" descr="/home/claude/edu/img/brief_v3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255813" y="1527048"/>
            <a:ext cx="3368954" cy="9144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347253" y="1618488"/>
            <a:ext cx="960120" cy="292608"/>
          </a:xfrm>
          <a:prstGeom prst="roundRect">
            <a:avLst>
              <a:gd name="adj" fmla="val 31250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47253" y="16184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21829"/>
                </a:solidFill>
              </a:rPr>
              <a:t>상황 ③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8328965" y="2532888"/>
            <a:ext cx="322265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언제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11월 15일 저녁 8시 30분</a:t>
            </a:r>
            <a:endParaRPr lang="en-US" sz="105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5B6478"/>
                </a:solidFill>
              </a:rPr>
              <a:t>어디서  </a:t>
            </a:r>
            <a:pPr indent="0" marL="0">
              <a:buNone/>
            </a:pPr>
            <a:r>
              <a:rPr lang="en-US" sz="1050" dirty="0">
                <a:solidFill>
                  <a:srgbClr val="1F2433"/>
                </a:solidFill>
              </a:rPr>
              <a:t>○○동 주민 단톡방 (776명) ·</a:t>
            </a:r>
            <a:br>
              <a:rPr lang="en-US" sz="1050" dirty="0">
                <a:solidFill>
                  <a:srgbClr val="1F2433"/>
                </a:solidFill>
              </a:rPr>
            </a:br>
            <a:r>
              <a:rPr lang="en-US" sz="1050" dirty="0">
                <a:solidFill>
                  <a:srgbClr val="1F2433"/>
                </a:solidFill>
              </a:rPr>
              <a:t>동네 게시판 앞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8328965" y="3081528"/>
            <a:ext cx="32226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433"/>
                </a:solidFill>
              </a:rPr>
              <a:t>동네 마트 직원이 확진됐다는 소식이 퍼지며,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주민 776명이 있는 단톡방에 오늘만 근거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없는 글이 4건 올라왔습니다. 공식 집계로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지역 확진자는 6명인데, 이름과 동선이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돌고 가게에 악성 리뷰를 달자는 말까지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나옵니다. 저녁 8시 30분, 주민 소통을 맡은</a:t>
            </a:r>
            <a:br>
              <a:rPr lang="en-US" sz="1100" dirty="0">
                <a:solidFill>
                  <a:srgbClr val="1F2433"/>
                </a:solidFill>
              </a:rPr>
            </a:br>
            <a:r>
              <a:rPr lang="en-US" sz="1100" dirty="0">
                <a:solidFill>
                  <a:srgbClr val="1F2433"/>
                </a:solidFill>
              </a:rPr>
              <a:t>당신에게 단톡방 운영자가 연락했습니다.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8283245" y="4507992"/>
            <a:ext cx="3314090" cy="548640"/>
          </a:xfrm>
          <a:prstGeom prst="roundRect">
            <a:avLst>
              <a:gd name="adj" fmla="val 1333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pic>
        <p:nvPicPr>
          <p:cNvPr id="38" name="Image 7" descr="/home/claude/edu/img/npc_v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5541" y="4553712"/>
            <a:ext cx="347472" cy="4572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786165" y="4535424"/>
            <a:ext cx="274716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문상철 씨 · 동네 단톡방 운영자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걱정: 소문 · 개인정보 · 이웃 갈등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8283245" y="5129784"/>
            <a:ext cx="3314090" cy="1133856"/>
          </a:xfrm>
          <a:prstGeom prst="roundRect">
            <a:avLst>
              <a:gd name="adj" fmla="val 6452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8420405" y="5166360"/>
            <a:ext cx="303977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5B6478"/>
                </a:solidFill>
              </a:rPr>
              <a:t>오늘의 임무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1. 개인정보 · 동선 퍼뜨리지 않기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2. 공식 발표만 공유하도록 안내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B2A4A"/>
                </a:solidFill>
              </a:rPr>
              <a:t>3. 확진자 배려와 이웃 신뢰 지키기</a:t>
            </a:r>
            <a:endParaRPr lang="en-US" sz="1100" dirty="0"/>
          </a:p>
        </p:txBody>
      </p:sp>
      <p:sp>
        <p:nvSpPr>
          <p:cNvPr id="42" name="Text 32"/>
          <p:cNvSpPr txBox="1"/>
          <p:nvPr/>
        </p:nvSpPr>
        <p:spPr>
          <a:xfrm>
            <a:off x="4206240" y="6446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 eaLnBrk="0" latinLnBrk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3A6"/>
                </a:solidFill>
              </a:rPr>
              <a:t>※ 이야기 속 수치는 예시입니다. 게임에서는 현장에 들어갈 때마다 새 수치가 나옵니다.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vir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viru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07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감염병확산 · 구조대상자 응대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신종 호흡기 감염병 심각 단계 · 요양원 면회 중단 · 소문 확산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/home/claude/edu/img/npc_v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78838"/>
            <a:ext cx="438912" cy="57058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07008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백승민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의심 증상 직장인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94360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열나고 기침해요.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그냥 출근해도 되죠?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4360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1520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오늘은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출근하지 마시고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집에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계세요.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1339나 보건소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에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상담하고 검사를 받으세요.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이동할 땐 마스크를 쓰고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사람 접촉을 줄여야 합니다.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94360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출근 자제·자택 대기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검사·상담 안내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마스크·접촉 줄이기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307738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/home/claude/edu/img/npc_v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618" y="1678838"/>
            <a:ext cx="438912" cy="5705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57546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백승민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의심 증상 직장인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444898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582058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확진되면 회사에서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잘릴까 봐 무서워요.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44898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82058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걱정되시는 게 당연해요.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감염병으로 쉬는 걸 이유로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불이익을 주는 건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보호받을 수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있는 문제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입니다. 생활지원과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유급휴가 지원도 있고,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62828"/>
                </a:solidFill>
              </a:rPr>
              <a:t>고용노동부</a:t>
            </a:r>
            <a:br>
              <a:rPr lang="en-US" sz="1400" b="1" dirty="0">
                <a:solidFill>
                  <a:srgbClr val="C62828"/>
                </a:solidFill>
              </a:rPr>
            </a:br>
            <a:r>
              <a:rPr lang="en-US" sz="1400" b="1" dirty="0">
                <a:solidFill>
                  <a:srgbClr val="C62828"/>
                </a:solidFill>
              </a:rPr>
              <a:t>1350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에서 상담받을 수 있어요.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44898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582058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불이익 금지 권리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생활·유급휴가 지원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노동 상담 창구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8158277" y="1481328"/>
            <a:ext cx="3576218" cy="4846320"/>
          </a:xfrm>
          <a:prstGeom prst="roundRect">
            <a:avLst>
              <a:gd name="adj" fmla="val 3068"/>
            </a:avLst>
          </a:prstGeom>
          <a:solidFill>
            <a:srgbClr val="FFFFFF"/>
          </a:solidFill>
          <a:ln w="12700">
            <a:solidFill>
              <a:srgbClr val="DD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/home/claude/edu/img/npc_v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157" y="1678838"/>
            <a:ext cx="438912" cy="57058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08085" y="1591056"/>
            <a:ext cx="2661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F2433"/>
                </a:solidFill>
              </a:rPr>
              <a:t>홍지수 씨</a:t>
            </a:r>
            <a:endParaRPr lang="en-US" sz="15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8"/>
                </a:solidFill>
              </a:rPr>
              <a:t>요양원 입소자 보호자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8295437" y="2350008"/>
            <a:ext cx="3301898" cy="1024128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8432597" y="2404872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구조대상자 질문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면회 금지라니요! 엄마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얼굴이라도 봐야겠어요!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295437" y="3465576"/>
            <a:ext cx="3301898" cy="1737360"/>
          </a:xfrm>
          <a:prstGeom prst="roundRect">
            <a:avLst>
              <a:gd name="adj" fmla="val 4211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8432597" y="3520440"/>
            <a:ext cx="302757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565C0"/>
                </a:solidFill>
              </a:rPr>
              <a:t>예시 답변</a:t>
            </a:r>
            <a:endParaRPr lang="en-US" sz="1100" dirty="0"/>
          </a:p>
          <a:p>
            <a:pPr indent="0" marL="0" eaLnBrk="0" latinLnBrk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어머님 보고 싶으신 마음 잘</a:t>
            </a:r>
            <a:br>
              <a:rPr lang="en-US" sz="1400" b="1" dirty="0">
                <a:solidFill>
                  <a:srgbClr val="1565C0"/>
                </a:solidFill>
              </a:rPr>
            </a:br>
            <a:r>
              <a:rPr lang="en-US" sz="1400" b="1" dirty="0">
                <a:solidFill>
                  <a:srgbClr val="1565C0"/>
                </a:solidFill>
              </a:rPr>
              <a:t>압니다.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 어르신들은 감염되면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위험해서 면회를 잠시 막은 거예요.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오늘 영상통화를 연결해 드리고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해제되면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565C0"/>
                </a:solidFill>
              </a:rPr>
              <a:t>바로 안내드릴게요.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295437" y="5294376"/>
            <a:ext cx="3301898" cy="896112"/>
          </a:xfrm>
          <a:prstGeom prst="roundRect">
            <a:avLst>
              <a:gd name="adj" fmla="val 8163"/>
            </a:avLst>
          </a:prstGeom>
          <a:solidFill>
            <a:srgbClr val="FADADA"/>
          </a:solidFill>
          <a:ln w="12700">
            <a:solidFill>
              <a:srgbClr val="FADAD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432597" y="5330952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62828"/>
                </a:solidFill>
              </a:rPr>
              <a:t>답변 필수 구성 요소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① 금지 이유 설명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② 비대면 대안</a:t>
            </a:r>
            <a:endParaRPr lang="en-US" sz="11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62828"/>
                </a:solidFill>
              </a:rPr>
              <a:t>③ 기간·해제 안내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vir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viru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07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감염병확산 · 언론 응대 ① 의심 증상 직장인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신종 호흡기 감염병 '심각' 단계. 증상이 있는 시민이 상담 부스를 찾았습니다.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오늘 확진자는 몇 명입니까?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오늘 0시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기준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우리 지역 확진자는 153명입니다.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수치는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질병관리청 집계 기준이며 매일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오전 10시에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공개합니다.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공식 출처   ③ 정기 공개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증상이 있는 시민은 어떻게 해야 합니까?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출근과 외출을 자제하고 1339나 보건소에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상담한 뒤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검사를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받아 주십시오.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이동할 때는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마스크를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쓰고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접촉을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줄여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외출·출근 자제   ② 상담·검사   ③ 예방 수칙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쉬면 불이익을 받을까 걱정하는 직장인이 많습니다.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감염병으로 쉬는 근로자에게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불이익을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주면 안 됩니다.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유급휴가와 생활지원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제도가 있고,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고용노동부 1350에서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상담과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신고를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받습니다.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불이익 금지   ② 지원 제도   ③ 상담 창구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한서진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한빛방송 보도국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현재 시각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오전 8시 20분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우리 지역 확진자 (0시 기준)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153명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선별진료소 대기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54명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확진자 수 공개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매일 오전 10시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nurs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nurs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07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감염병확산 · 언론 응대 ② 요양원 입소자 보호자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요양원 집단감염 우려로 면회가 전면 중단됐습니다. 보호자가 현장을 찾았습니다.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요양원 집단감염 규모는 어떻습니까?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현재까지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입소자 13명과 직원 5명이 확진됐습니다.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확진자는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전담병원으로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옮기거나 시설 안에서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격리 치료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중이며,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추가 결과는 오후 3시에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공개합니다.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확인된 사실(언제·어디·얼마나)   ② 격리·치료 조치   ③ 다음 발표 시각·창구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면회 금지가 너무 가혹하다는 보호자 불만이 있습니다.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보호자분들 마음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충분히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이해합니다.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어르신들은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감염되면 위험해서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면회를 잠시 멈췄습니다.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영상통화와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정기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연락으로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상태를 알려드리고 있습니다.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보호자 공감   ② 금지 이유   ③ 비대면 대안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다른 요양시설은 안전합니까?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지역 요양시설 51곳의 종사자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전수 검사와 방역 점검을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하고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결과는 나오는 즉시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공개하겠습니다.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전수 검사·점검   ② 방역 조치   ③ 결과 공개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pic>
        <p:nvPicPr>
          <p:cNvPr id="31" name="Image 5" descr="/home/claude/edu/img/rep_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7708" y="1947672"/>
            <a:ext cx="1371600" cy="17830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76472"/>
            <a:ext cx="2727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F2433"/>
                </a:solidFill>
              </a:rPr>
              <a:t>오준석 기자</a:t>
            </a:r>
            <a:endParaRPr lang="en-US" sz="16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오늘신문 재난팀 (가상 매체)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8869680" y="4370832"/>
            <a:ext cx="2727655" cy="1883664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006840" y="4443984"/>
            <a:ext cx="2453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E7D32"/>
                </a:solidFill>
              </a:rPr>
              <a:t>현장 상황판 (예시)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현재 시각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1시 10분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요양원 입소자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66명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확진 입소자 · 직원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13명 · 5명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전수 검사 중인 지역 요양시설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51곳</a:t>
            </a:r>
            <a:endParaRPr lang="en-US" sz="1200" dirty="0"/>
          </a:p>
          <a:p>
            <a:pPr indent="0" marL="0" eaLnBrk="0" latinLnBrk="0">
              <a:lnSpc>
                <a:spcPct val="112000"/>
              </a:lnSpc>
              <a:spcAft>
                <a:spcPts val="100"/>
              </a:spcAft>
              <a:buNone/>
            </a:pPr>
            <a:r>
              <a:rPr lang="en-US" sz="1050" dirty="0">
                <a:solidFill>
                  <a:srgbClr val="5B6478"/>
                </a:solidFill>
              </a:rPr>
              <a:t>다음 발표  </a:t>
            </a:r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F2433"/>
                </a:solidFill>
              </a:rPr>
              <a:t>오후 3시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strip_neighborho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606735" cy="1188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606735" cy="1188720"/>
          </a:xfrm>
          <a:prstGeom prst="rect">
            <a:avLst/>
          </a:prstGeom>
          <a:solidFill>
            <a:srgbClr val="121829">
              <a:alpha val="78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pic>
        <p:nvPicPr>
          <p:cNvPr id="4" name="Image 1" descr="/home/claude/edu/img/bg_neighborhoo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735" y="0"/>
            <a:ext cx="1584960" cy="11887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21829"/>
                </a:solidFill>
              </a:rPr>
              <a:t>07</a:t>
            </a:r>
            <a:endParaRPr lang="en-US" sz="22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1371600" y="20116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 eaLnBrk="0" latinLnBrk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감염병확산 · 언론 응대 ③ 동네 단톡방 운영자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7680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3E8F4"/>
                </a:solidFill>
              </a:rPr>
              <a:t>지역 확진자 발생 후 근거 없는 소문과 동선 정보가 퍼지고 있습니다.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444752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934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1499616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확진자 동선과 신상을 공개해 주십시오.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94360" y="1920240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13232" y="1947672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개인을 알아볼 수 있는 정보는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공개하지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않습니다.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/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접촉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가능성이 있는 분께는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보건소가 직접 연락드립니다.</a:t>
            </a:r>
            <a:br>
              <a:rPr lang="en-US" sz="1400" b="1" dirty="0">
                <a:solidFill>
                  <a:srgbClr val="2E7D32"/>
                </a:solidFill>
              </a:rPr>
            </a:br>
            <a:r>
              <a:rPr lang="en-US" sz="1400" b="1" dirty="0">
                <a:solidFill>
                  <a:srgbClr val="2E7D32"/>
                </a:solidFill>
              </a:rPr>
              <a:t>증상이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있으면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1339 상담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후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검사를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받아 주십시오.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278892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개인정보 보호   ② 보건소 직접 연락   ③ 시민 행동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182112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73552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3163824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가짜뉴스가 퍼지고 있는데 대응은 어떻게 합니까?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94360" y="3584448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13232" y="3611880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E7D32"/>
                </a:solidFill>
              </a:rPr>
              <a:t>사실과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다른 정보는 확인 즉시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바로잡아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발표하고 있습니다.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정확한 내용은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질병관리청과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시청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홈페이지를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확인해 주시고,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출처가 불분명한 정보는 공유를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자제해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주십시오.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94360" y="4453128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사실 바로잡기   ② 공식 출처   ③ 유포 자제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773168"/>
            <a:ext cx="8001000" cy="1591056"/>
          </a:xfrm>
          <a:prstGeom prst="roundRect">
            <a:avLst>
              <a:gd name="adj" fmla="val 5747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48463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37760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51560" y="4828032"/>
            <a:ext cx="7269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기자 질문  </a:t>
            </a:r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</a:rPr>
              <a:t>특정 가게가 낙인찍혀 피해를 보고 있습니다.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594360" y="5248656"/>
            <a:ext cx="77266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13232" y="5276088"/>
            <a:ext cx="7488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433"/>
                </a:solidFill>
              </a:rPr>
              <a:t>확진자가 다녀간 가게는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소독을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마쳐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안전합니다.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/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근거 없는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비난과 낙인을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멈춰 주시길 부탁드립니다.</a:t>
            </a:r>
            <a:br>
              <a:rPr lang="en-US" sz="1400" dirty="0">
                <a:solidFill>
                  <a:srgbClr val="1F2433"/>
                </a:solidFill>
              </a:rPr>
            </a:br>
            <a:r>
              <a:rPr lang="en-US" sz="1400" dirty="0">
                <a:solidFill>
                  <a:srgbClr val="1F2433"/>
                </a:solidFill>
              </a:rPr>
              <a:t>피해 </a:t>
            </a:r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상인 지원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 방안도 마련하고 있습니다.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6117336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2E7D32"/>
                </a:solidFill>
              </a:rPr>
              <a:t>핵심 포인트  </a:t>
            </a:r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① 방역 완료 안내   ② 낙인·비난 멈추기   ③ 상인 지원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732520" y="1444752"/>
            <a:ext cx="3001975" cy="4919472"/>
          </a:xfrm>
          <a:prstGeom prst="roundRect">
            <a:avLst>
              <a:gd name="adj" fmla="val 3655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pic>
        <p:nvPicPr>
          <p:cNvPr id="31" name="Image 5" descr="/home/claude/edu/img/me_gov_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1691640"/>
            <a:ext cx="548640" cy="7132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555480" y="1581912"/>
            <a:ext cx="2087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1B2A4A"/>
                </a:solidFill>
              </a:rPr>
              <a:t>행동요령</a:t>
            </a:r>
            <a:endParaRPr lang="en-US" sz="20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8"/>
                </a:solidFill>
              </a:rPr>
              <a:t>감염병확산 현장 다섯 가지</a:t>
            </a:r>
            <a:endParaRPr lang="en-US" sz="2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2773375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208008" y="2496312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증상 → 출근·등교 자제,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1339·보건소 상담</a:t>
            </a:r>
            <a:endParaRPr lang="en-US" sz="14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3528670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208008" y="3251606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마스크·손씻기·자주 환기</a:t>
            </a:r>
            <a:endParaRPr lang="en-US" sz="14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4283964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208008" y="4006901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가족과 방·수건·식기 따로</a:t>
            </a:r>
            <a:endParaRPr lang="en-US" sz="14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0" y="5039258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208008" y="4762195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공식 출처 확인,</a:t>
            </a:r>
            <a:br>
              <a:rPr lang="en-US" sz="1400" b="1" dirty="0">
                <a:solidFill>
                  <a:srgbClr val="1B2A4A"/>
                </a:solidFill>
              </a:rPr>
            </a:br>
            <a:r>
              <a:rPr lang="en-US" sz="1400" b="1" dirty="0">
                <a:solidFill>
                  <a:srgbClr val="1B2A4A"/>
                </a:solidFill>
              </a:rPr>
              <a:t>가짜뉴스 공유 금지</a:t>
            </a:r>
            <a:endParaRPr lang="en-US" sz="14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5794553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208008" y="5517490"/>
            <a:ext cx="2435047" cy="75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A4A"/>
                </a:solidFill>
              </a:rPr>
              <a:t>확진자 비난·신상 공개 금지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실습 · 재난소통 영웅 도전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62456"/>
            <a:ext cx="2075688" cy="4041648"/>
          </a:xfrm>
          <a:prstGeom prst="roundRect">
            <a:avLst>
              <a:gd name="adj" fmla="val 5286"/>
            </a:avLst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pic>
        <p:nvPicPr>
          <p:cNvPr id="4" name="Image 0" descr="/home/claude/edu/img/scr_set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17320"/>
            <a:ext cx="196596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5486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433"/>
                </a:solidFill>
              </a:rPr>
              <a:t>대원 만들기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569464" y="1362456"/>
            <a:ext cx="2075688" cy="4041648"/>
          </a:xfrm>
          <a:prstGeom prst="roundRect">
            <a:avLst>
              <a:gd name="adj" fmla="val 5286"/>
            </a:avLst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pic>
        <p:nvPicPr>
          <p:cNvPr id="7" name="Image 1" descr="/home/claude/edu/img/scr_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24328" y="1417320"/>
            <a:ext cx="1965960" cy="3931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24328" y="5486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433"/>
                </a:solidFill>
              </a:rPr>
              <a:t>현장 고르기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736592" y="1362456"/>
            <a:ext cx="2075688" cy="4041648"/>
          </a:xfrm>
          <a:prstGeom prst="roundRect">
            <a:avLst>
              <a:gd name="adj" fmla="val 5286"/>
            </a:avLst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pic>
        <p:nvPicPr>
          <p:cNvPr id="10" name="Image 2" descr="/home/claude/edu/img/scr_pla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91456" y="1417320"/>
            <a:ext cx="1965960" cy="3931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91456" y="5486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F2433"/>
                </a:solidFill>
              </a:rPr>
              <a:t>8번 대화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141464" y="1508760"/>
            <a:ext cx="548640" cy="548640"/>
          </a:xfrm>
          <a:prstGeom prst="ellipse">
            <a:avLst/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14146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7872984" y="1371600"/>
            <a:ext cx="38615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F2433"/>
                </a:solidFill>
              </a:rPr>
              <a:t>QR 접속</a:t>
            </a: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마지막 장 QR 또는 주소 입력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141464" y="2404872"/>
            <a:ext cx="548640" cy="548640"/>
          </a:xfrm>
          <a:prstGeom prst="ellipse">
            <a:avLst/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141464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872984" y="2267712"/>
            <a:ext cx="38615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F2433"/>
                </a:solidFill>
              </a:rPr>
              <a:t>대원 만들기</a:t>
            </a: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이름 · 성별 · 복장 선택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141464" y="3300984"/>
            <a:ext cx="548640" cy="548640"/>
          </a:xfrm>
          <a:prstGeom prst="ellipse">
            <a:avLst/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141464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872984" y="3163824"/>
            <a:ext cx="38615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F2433"/>
                </a:solidFill>
              </a:rPr>
              <a:t>인증번호 신청</a:t>
            </a: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랭킹 참여 시 이름 · 이메일 입력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7141464" y="4197096"/>
            <a:ext cx="548640" cy="548640"/>
          </a:xfrm>
          <a:prstGeom prst="ellipse">
            <a:avLst/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141464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7872984" y="4059936"/>
            <a:ext cx="38615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F2433"/>
                </a:solidFill>
              </a:rPr>
              <a:t>8번 대화</a:t>
            </a: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구조대상자 5번 · 취재 기자 3번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7141464" y="5093208"/>
            <a:ext cx="548640" cy="54864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141464" y="5093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21829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7872984" y="4956048"/>
            <a:ext cx="38615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F2433"/>
                </a:solidFill>
              </a:rPr>
              <a:t>관문 통과</a:t>
            </a: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파워 8 이상 → 다음 재난으로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7141464" y="5870448"/>
            <a:ext cx="4593031" cy="457200"/>
          </a:xfrm>
          <a:prstGeom prst="roundRect">
            <a:avLst>
              <a:gd name="adj" fmla="val 20000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324344" y="5870448"/>
            <a:ext cx="42272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8A5A00"/>
                </a:solidFill>
              </a:rPr>
              <a:t>팀 미션 · 20분 안에 관문 3개 통과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37744"/>
            <a:ext cx="112772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F24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응대 요령 자가 점검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138160" cy="850392"/>
          </a:xfrm>
          <a:prstGeom prst="roundRect">
            <a:avLst>
              <a:gd name="adj" fmla="val 1075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139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A3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371600"/>
            <a:ext cx="7132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565C0"/>
                </a:solidFill>
              </a:rPr>
              <a:t>첫마디에 안심 한마디</a:t>
            </a:r>
            <a:pPr indent="0" marL="0">
              <a:buNone/>
            </a:pP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"제가 함께 있어요" · "곧 구조대가 와요"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138160" cy="850392"/>
          </a:xfrm>
          <a:prstGeom prst="roundRect">
            <a:avLst>
              <a:gd name="adj" fmla="val 10753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5740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A3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2331720"/>
            <a:ext cx="7132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C62828"/>
                </a:solidFill>
              </a:rPr>
              <a:t>위험 단어는 짧고 분명하게</a:t>
            </a:r>
            <a:pPr indent="0" marL="0">
              <a:buNone/>
            </a:pP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"지금 바로" · "절대 켜지 마세요"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138160" cy="850392"/>
          </a:xfrm>
          <a:prstGeom prst="roundRect">
            <a:avLst>
              <a:gd name="adj" fmla="val 10753"/>
            </a:avLst>
          </a:prstGeom>
          <a:solidFill>
            <a:srgbClr val="ECEEF2"/>
          </a:solidFill>
          <a:ln w="12700">
            <a:solidFill>
              <a:srgbClr val="ECE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53415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A3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3291840"/>
            <a:ext cx="7132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B2A4A"/>
                </a:solidFill>
              </a:rPr>
              <a:t>행동은 장소 · 방법까지 구체적으로</a:t>
            </a:r>
            <a:pPr indent="0" marL="0">
              <a:buNone/>
            </a:pP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"짐은 두고 계단으로 지상까지"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8138160" cy="850392"/>
          </a:xfrm>
          <a:prstGeom prst="roundRect">
            <a:avLst>
              <a:gd name="adj" fmla="val 1075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49427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A3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4251960"/>
            <a:ext cx="7132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565C0"/>
                </a:solidFill>
              </a:rPr>
              <a:t>끝은 약속 · 연결로</a:t>
            </a:r>
            <a:pPr indent="0" marL="0">
              <a:buNone/>
            </a:pP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"신청은 제가 도와드릴게요"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5212080"/>
            <a:ext cx="8138160" cy="850392"/>
          </a:xfrm>
          <a:prstGeom prst="roundRect">
            <a:avLst>
              <a:gd name="adj" fmla="val 10753"/>
            </a:avLst>
          </a:prstGeom>
          <a:solidFill>
            <a:srgbClr val="E8F4E9"/>
          </a:solidFill>
          <a:ln w="12700">
            <a:solidFill>
              <a:srgbClr val="E8F4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54543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A3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80160" y="5212080"/>
            <a:ext cx="7132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E7D32"/>
                </a:solidFill>
              </a:rPr>
              <a:t>언론에는 확인된 사실 + 다음 발표 시각</a:t>
            </a:r>
            <a:pPr indent="0" marL="0">
              <a:buNone/>
            </a:pP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"확인되지 않은 수치는 추측하지 않겠습니다"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915400" y="1371600"/>
            <a:ext cx="2819095" cy="4727448"/>
          </a:xfrm>
          <a:prstGeom prst="roundRect">
            <a:avLst>
              <a:gd name="adj" fmla="val 3892"/>
            </a:avLst>
          </a:prstGeom>
          <a:solidFill>
            <a:srgbClr val="121829"/>
          </a:solidFill>
          <a:ln w="12700">
            <a:solidFill>
              <a:srgbClr val="121829"/>
            </a:solidFill>
            <a:prstDash val="solid"/>
          </a:ln>
        </p:spPr>
      </p:sp>
      <p:pic>
        <p:nvPicPr>
          <p:cNvPr id="19" name="Image 0" descr="/home/claude/edu/img/me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1988" y="1691640"/>
            <a:ext cx="1645920" cy="20116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098280" y="3886200"/>
            <a:ext cx="2453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B020"/>
                </a:solidFill>
              </a:rPr>
              <a:t>다섯 칸 모두 체크 =</a:t>
            </a:r>
            <a:endParaRPr lang="en-US" sz="1700" dirty="0"/>
          </a:p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B020"/>
                </a:solidFill>
              </a:rPr>
              <a:t>재난소통 영웅</a:t>
            </a:r>
            <a:br>
              <a:rPr lang="en-US" sz="1700" b="1" dirty="0">
                <a:solidFill>
                  <a:srgbClr val="FFB020"/>
                </a:solidFill>
              </a:rPr>
            </a:br>
            <a:r>
              <a:rPr lang="en-US" sz="1700" b="1" dirty="0">
                <a:solidFill>
                  <a:srgbClr val="FFB020"/>
                </a:solidFill>
              </a:rPr>
              <a:t>준비 완료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098280" y="4937760"/>
            <a:ext cx="2453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9D1E6"/>
                </a:solidFill>
              </a:rPr>
              <a:t>게임 7개 관문 통과로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4652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A93A6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 eaLnBrk="0" latinLnBrk="0">
              <a:lnSpc>
                <a:spcPct val="112000"/>
              </a:lnSpc>
            </a:pPr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du/img/dark_floo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9">
              <a:alpha val="75000"/>
            </a:srgbClr>
          </a:solidFill>
          <a:ln w="12700">
            <a:solidFill>
              <a:srgbClr val="121829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200" b="1" spc="600" kern="0" dirty="0">
                <a:solidFill>
                  <a:srgbClr val="C9D1E6"/>
                </a:solidFill>
              </a:rPr>
              <a:t>KOREA CONTENTS LAB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1887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지금 접속해</a:t>
            </a:r>
            <a:endParaRPr lang="en-US" sz="44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B020"/>
                </a:solidFill>
              </a:rPr>
              <a:t>훈련을 시작하세요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063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 eaLnBrk="0" latinLnBrk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3E8F4"/>
                </a:solidFill>
              </a:rPr>
              <a:t>휴대폰 카메라로 QR을 비추면 게임이 열립니다.</a:t>
            </a:r>
            <a:endParaRPr lang="en-US" sz="1700" dirty="0"/>
          </a:p>
          <a:p>
            <a:pPr indent="0" marL="0" eaLnBrk="0" latinLnBrk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3E8F4"/>
                </a:solidFill>
              </a:rPr>
              <a:t>인증번호를 신청하면 랭킹에 이름이 올라갑니다.</a:t>
            </a:r>
            <a:endParaRPr lang="en-US" sz="1700" dirty="0"/>
          </a:p>
        </p:txBody>
      </p:sp>
      <p:sp>
        <p:nvSpPr>
          <p:cNvPr id="7" name="Text 4">
            <a:hlinkClick r:id="rId2" tooltip=""/>
          </p:cNvPr>
          <p:cNvSpPr txBox="1"/>
          <p:nvPr/>
        </p:nvSpPr>
        <p:spPr>
          <a:xfrm>
            <a:off x="731520" y="4069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800" b="1" u="sng" dirty="0">
                <a:solidFill>
                  <a:srgbClr val="FFB02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https://ktvwin-pixel.github.io/disaster-game/</a:t>
            </a:r>
            <a:endParaRPr lang="en-US" sz="1800" dirty="0"/>
          </a:p>
        </p:txBody>
      </p:sp>
      <p:pic>
        <p:nvPicPr>
          <p:cNvPr id="8" name="Image 1" descr="/home/claude/edu/img/med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09160"/>
            <a:ext cx="914400" cy="11155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47548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7개 관문 통과 →</a:t>
            </a:r>
            <a:endParaRPr lang="en-US" sz="1700" dirty="0"/>
          </a:p>
          <a:p>
            <a:pPr indent="0" marL="0" eaLnBrk="0" latinLnBrk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</a:rPr>
              <a:t>대한민국 재난소통 영웅 훈장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543800" y="960120"/>
            <a:ext cx="3931920" cy="4937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/home/claude/edu/img/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325880"/>
            <a:ext cx="3108960" cy="31089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4380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F2433"/>
                </a:solidFill>
              </a:rPr>
              <a:t>재난소통 영웅 게임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543800" y="4983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 eaLnBrk="0" latinLnBrk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478"/>
                </a:solidFill>
              </a:rPr>
              <a:t>스캔하여 바로 접속</a:t>
            </a:r>
            <a:endParaRPr lang="en-US" sz="1400" dirty="0"/>
          </a:p>
        </p:txBody>
      </p:sp>
      <p:pic>
        <p:nvPicPr>
          <p:cNvPr id="14" name="Image 3" descr="/home/claude/edu/img/me_lime_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754880"/>
            <a:ext cx="914400" cy="1188720"/>
          </a:xfrm>
          <a:prstGeom prst="rect">
            <a:avLst/>
          </a:prstGeom>
        </p:spPr>
      </p:pic>
      <p:pic>
        <p:nvPicPr>
          <p:cNvPr id="15" name="Image 4" descr="/home/claude/edu/img/me_fire_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4754880"/>
            <a:ext cx="914400" cy="1188720"/>
          </a:xfrm>
          <a:prstGeom prst="rect">
            <a:avLst/>
          </a:prstGeom>
        </p:spPr>
      </p:pic>
      <p:pic>
        <p:nvPicPr>
          <p:cNvPr id="16" name="Image 5" descr="/home/claude/edu/img/me_police_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754880"/>
            <a:ext cx="914400" cy="11887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3152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eaLnBrk="0" latinLnBrk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3A6"/>
                </a:solidFill>
              </a:rPr>
              <a:t>© 2026 KOREA CONTENTS LAB. All rights reserved.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재난소통 영웅">
  <a:themeElements>
    <a:clrScheme name="재난소통 영웅">
      <a:dk1>
        <a:srgbClr val="1F2433"/>
      </a:dk1>
      <a:lt1>
        <a:srgbClr val="FFFFFF"/>
      </a:lt1>
      <a:dk2>
        <a:srgbClr val="121829"/>
      </a:dk2>
      <a:lt2>
        <a:srgbClr val="F3F4F7"/>
      </a:lt2>
      <a:accent1>
        <a:srgbClr val="FFB020"/>
      </a:accent1>
      <a:accent2>
        <a:srgbClr val="C62828"/>
      </a:accent2>
      <a:accent3>
        <a:srgbClr val="1565C0"/>
      </a:accent3>
      <a:accent4>
        <a:srgbClr val="2E7D32"/>
      </a:accent4>
      <a:accent5>
        <a:srgbClr val="1B2A4A"/>
      </a:accent5>
      <a:accent6>
        <a:srgbClr val="6B7280"/>
      </a:accent6>
      <a:hlink>
        <a:srgbClr val="1565C0"/>
      </a:hlink>
      <a:folHlink>
        <a:srgbClr val="6A1B9A"/>
      </a:folHlink>
    </a:clrScheme>
    <a:fontScheme name="재난소통 영웅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KOREA CONTENTS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재난소통 영웅 교육안</dc:title>
  <dc:subject>PptxGenJS Presentation</dc:subject>
  <dc:creator>KOREA CONTENTS LAB</dc:creator>
  <cp:lastModifiedBy>KOREA CONTENTS LAB</cp:lastModifiedBy>
  <cp:revision>1</cp:revision>
  <dcterms:created xsi:type="dcterms:W3CDTF">2026-10-28T05:35:04Z</dcterms:created>
  <dcterms:modified xsi:type="dcterms:W3CDTF">2026-10-28T05:35:04Z</dcterms:modified>
</cp:coreProperties>
</file>