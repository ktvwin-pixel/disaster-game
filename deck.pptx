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및 과정 소개
- 오늘 교육: 재난 현장에서 주고받는 말 연습
- 끝에 게임으로 직접 답변 입력, 랭킹 도전
- 마지막 장 QR로 게임 접속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개요 안내
- 대상: 성인 누구나, 쉬운 말 중심
- 목표 두 가지: 구조대상자 응대, 언론 응대
- 스마트폰 인터넷 연결 미리 확인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 안내
- 유형별 응대 7종: 예시 답변 소리 내어 읽기 + 짝끼리 질문·답변 바꿔 말하기
- 게임 실습 20분: 개인 도전 후 팀 점수 비교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질문: "불이 났을 때 옆 사람이 엘리베이터를 타려 하면 뭐라고 말할까요?"
- 몇 명 답변 듣기
- 안심 → 위험 → 행동 흐름으로 정리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색 규칙 안내
- 빨강: 놓치면 위험한 말
- 파랑: 마음을 안정시키는 말, 약속
- 초록: 언론 응대 핵심
- 회색 바탕 진청 글씨: 행동요령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4요소 설명
- 첫마디 공감 → 상대 귀가 열림
- 위험은 짧고 분명하게
- 행동은 장소·방법까지
- 끝은 약속으로 마무리
짝 실습: 예시 문장 소리 내어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채점 방식 안내
- 시작 파워 6점, 문항마다 오르내림
- 짧은 답, 부정 표현 → 감점
- 통과 기준 8점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언론 응대 원칙
- 모르는 내용: "확인 후 ○시에 알려드리겠습니다"
- 피해자 개인정보 보호 최우선
- 기자 질문 = 시민에게 행동을 알릴 기회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유형별 진행 순서
- 구조대상자 질문 3개: 예시 답변 소리 내어 읽기
- 기자 질문: 게임 문항 60개 수록, 상황별 1개씩 대변인 역할 짝 실습
- 행동요령 5가지: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1 · 반지하 거주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2 · 퇴근길 운전자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3 · 계곡 야영객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1 · 아파트 15층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2 · 전통시장 상인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3 · 산간 마을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1 · 사무실 직장인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2 · 해변 관광객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3 · 초등학교 담임교사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언론 응대 1 · 다세대주택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언론 응대 2 · 산업단지 인근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1 · 건설현장 노동자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2 · 혼자 사는 어르신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3 · 아이 동반 보호자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1 · 매몰 생존자 (전화 연결)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2 · 현장 목격 시민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3 · 노후 아파트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1 · 의심 증상 직장인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2 · 요양원 입소자 보호자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3 · 동네 단톡방 운영자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실습 진행
- QR 접속 확인 후 시작
- 인증번호: 신청 즉시 자동 발급, 다음에 이어서 하려면 번호 메모
- 핵심 포인트 보기 버튼 활용 가능
- 끝나고 랭킹 화면 함께 보기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
- 다섯 항목 스스로 체크
- 질의응답
- 다음 장 QR로 집에서도 이어서 훈련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접속 안내
- 카메라 앱으로 QR 스캔
- 접속 안 될 때: 주소 직접 입력
- 수료 인사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8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 CONTENTS LAB · 재난소통 영웅 교육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N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 CONTENTS LAB · 재난소통 영웅 교육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png"/><Relationship Id="rId4" Type="http://schemas.openxmlformats.org/officeDocument/2006/relationships/image" Target="../media/image-33-3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ktvwin-pixel.github.io/disaster-game/" TargetMode="External"/><Relationship Id="rId1" Type="http://schemas.openxmlformats.org/officeDocument/2006/relationships/image" Target="../media/image-39-1.jpg"/><Relationship Id="rId3" Type="http://schemas.openxmlformats.org/officeDocument/2006/relationships/image" Target="../media/image-39-2.png"/><Relationship Id="rId4" Type="http://schemas.openxmlformats.org/officeDocument/2006/relationships/image" Target="../media/image-39-3.png"/><Relationship Id="rId5" Type="http://schemas.openxmlformats.org/officeDocument/2006/relationships/image" Target="../media/image-39-4.png"/><Relationship Id="rId6" Type="http://schemas.openxmlformats.org/officeDocument/2006/relationships/image" Target="../media/image-39-5.png"/><Relationship Id="rId7" Type="http://schemas.openxmlformats.org/officeDocument/2006/relationships/image" Target="../media/image-39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bg_fi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9">
              <a:alpha val="7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9D1E6"/>
                </a:solidFill>
              </a:rPr>
              <a:t>KOREA CONTENTS LAB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4173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재난 대응 소통 교육 · 성인 대상 2시간 과정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</a:rPr>
              <a:t>재난소통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B020"/>
                </a:solidFill>
              </a:rPr>
              <a:t>영웅 훈련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160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E8F4"/>
                </a:solidFill>
              </a:rPr>
              <a:t>구조대상자 질문 · 언론 질문 · 예시 답변 · 행동요령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663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D0"/>
                </a:solidFill>
              </a:rPr>
              <a:t>게임으로 익히고, 현장에서 바로 쓰는 말</a:t>
            </a:r>
            <a:endParaRPr lang="en-US" sz="1600" dirty="0"/>
          </a:p>
        </p:txBody>
      </p:sp>
      <p:pic>
        <p:nvPicPr>
          <p:cNvPr id="9" name="Image 1" descr="/home/claude/edu/img/me_lime_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169664"/>
            <a:ext cx="1188720" cy="1545336"/>
          </a:xfrm>
          <a:prstGeom prst="rect">
            <a:avLst/>
          </a:prstGeom>
        </p:spPr>
      </p:pic>
      <p:pic>
        <p:nvPicPr>
          <p:cNvPr id="10" name="Image 2" descr="/home/claude/edu/img/me_fire_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4169664"/>
            <a:ext cx="1188720" cy="1545336"/>
          </a:xfrm>
          <a:prstGeom prst="rect">
            <a:avLst/>
          </a:prstGeom>
        </p:spPr>
      </p:pic>
      <p:pic>
        <p:nvPicPr>
          <p:cNvPr id="11" name="Image 3" descr="/home/claude/edu/img/me_police_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4169664"/>
            <a:ext cx="1188720" cy="1545336"/>
          </a:xfrm>
          <a:prstGeom prst="rect">
            <a:avLst/>
          </a:prstGeom>
        </p:spPr>
      </p:pic>
      <p:pic>
        <p:nvPicPr>
          <p:cNvPr id="12" name="Image 4" descr="/home/claude/edu/img/me_gov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544" y="4169664"/>
            <a:ext cx="1188720" cy="1545336"/>
          </a:xfrm>
          <a:prstGeom prst="rect">
            <a:avLst/>
          </a:prstGeom>
        </p:spPr>
      </p:pic>
      <p:pic>
        <p:nvPicPr>
          <p:cNvPr id="13" name="Image 5" descr="/home/claude/edu/img/me_blu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0232" y="4169664"/>
            <a:ext cx="1188720" cy="1545336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731520" y="61722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© 2026 KOREA CONTENTS LAB.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개요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91640"/>
            <a:ext cx="685800" cy="68580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3"/>
                </a:solidFill>
              </a:rPr>
              <a:t>교육 대상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5146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성인 누구나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민방위 대원 · 공무원 · 자원봉사자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34840" y="14173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09160" y="1691640"/>
            <a:ext cx="685800" cy="6858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610" y="186309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3"/>
                </a:solidFill>
              </a:rPr>
              <a:t>교육 목표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25146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구조대상자에게 쉬운 말로 답하기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기자에게 확인된 사실로 답하기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57200" y="39319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4206240"/>
            <a:ext cx="685800" cy="6858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" y="437769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206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3"/>
                </a:solidFill>
              </a:rPr>
              <a:t>준비물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스마트폰 (인터넷 연결)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필기도구, 이 교육자료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4434840" y="39319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09160" y="4206240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610" y="437769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4206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3"/>
                </a:solidFill>
              </a:rPr>
              <a:t>진행 방식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70916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설명 → 예시 답변 소리 내어 읽기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→ 짝 실습 → 게임으로 직접 입력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458200" y="1417320"/>
            <a:ext cx="3273552" cy="4754880"/>
          </a:xfrm>
          <a:prstGeom prst="roundRect">
            <a:avLst>
              <a:gd name="adj" fmla="val 4190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24" name="Image 4" descr="/home/claude/edu/img/scr_setup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641080" y="1554480"/>
            <a:ext cx="2240280" cy="4480560"/>
          </a:xfrm>
          <a:prstGeom prst="rect">
            <a:avLst/>
          </a:prstGeom>
        </p:spPr>
      </p:pic>
      <p:pic>
        <p:nvPicPr>
          <p:cNvPr id="25" name="Image 5" descr="/home/claude/edu/img/me_lim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44200" y="4389120"/>
            <a:ext cx="91440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 교육 흐름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72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4965192"/>
                <a:gridCol w="22860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00:00–00:10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도입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 한마디가 생명을 지키는 이유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00:10–00:25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원칙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구조대상자 답변 4요소 · 언론 답변 4요소 · 색 신호 읽기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00:25–01:00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유형별 응대 ①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침수 · 화재 · 지진 · 폭발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따라 읽기 · 짝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5B647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01:00–01:10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647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휴식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01:10–01:35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유형별 응대 ②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폭염 · 건물붕괴 · 감염병확산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따라 읽기 · 짝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01:35–01:55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게임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재난소통 영웅 관문 도전 · 랭킹 등록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개인 · 팀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01:55–02:00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 점검 · 질의응답 · QR 접속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25312"/>
            <a:ext cx="256032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" y="587959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게임 실습 20분 · 휴식 10분 포함, 총 120분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한마디가 행동을 바꿉니다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" name="Image 0" descr="/home/claude/edu/img/npc_h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180" y="1965960"/>
            <a:ext cx="1371600" cy="1783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2828"/>
                </a:solidFill>
              </a:rPr>
              <a:t>불안한 시민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"어떻게 해요?" 질문 폭주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잘못된 판단 → 위험 행동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엘리베이터 · 짐 챙기기 · 현장 접근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208" y="3520440"/>
            <a:ext cx="320040" cy="320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425696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9" name="Image 2" descr="/home/claude/edu/img/me_fire_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676" y="1965960"/>
            <a:ext cx="1371600" cy="1783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08576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</a:rPr>
              <a:t>정확한 한 문장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4654296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안심 한마디로 시작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위험은 분명하게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할 일은 구체적으로</a:t>
            </a:r>
            <a:endParaRPr lang="en-US" sz="15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520440"/>
            <a:ext cx="320040" cy="320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394192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14" name="Image 4" descr="/home/claude/edu/img/npcgood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1965960"/>
            <a:ext cx="1371600" cy="1783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577072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생명을 지키는 행동</a:t>
            </a:r>
            <a:endParaRPr lang="en-US" sz="2000" dirty="0"/>
          </a:p>
        </p:txBody>
      </p:sp>
      <p:sp>
        <p:nvSpPr>
          <p:cNvPr id="16" name="Text 9"/>
          <p:cNvSpPr txBox="1"/>
          <p:nvPr/>
        </p:nvSpPr>
        <p:spPr>
          <a:xfrm>
            <a:off x="8622792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계단으로 대피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119 신고 · 위치 알림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안전 확인 뒤 다음 행동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교육자료 색 신호 읽기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1737360"/>
            <a:ext cx="822960" cy="82296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9052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2828"/>
                </a:solidFill>
              </a:rPr>
              <a:t>빨강 · 중요 · 긴급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정확한 확인이 필요한 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위험을 막는 핵심 단어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지금 바로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 </a:t>
            </a:r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절대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 </a:t>
            </a:r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119 신고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3756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33672" y="1737360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19431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</a:rPr>
              <a:t>파랑 · 안심 · 약속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구조대상자와 대화 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긍정 · 안정 · 약속 표현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52044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1188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</a:rPr>
              <a:t>혼자가 아니세요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 </a:t>
            </a:r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</a:rPr>
              <a:t>제가 도와드릴게요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14032" y="1737360"/>
            <a:ext cx="822960" cy="8229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772" y="19431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5508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</a:rPr>
              <a:t>초록 · 언론 응대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기자 질문에 전하는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핵심 안내와 확인된 사실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640080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9224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확인된 내용만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 </a:t>
            </a:r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다음 브리핑 ○시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909828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994392" y="1737360"/>
            <a:ext cx="822960" cy="8229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0132" y="194310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3544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회색 바탕 · 행동요령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28116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모두가 기억할 행동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진청색 굵은 글씨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928116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37260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엘리베이터 금지 → 계단으로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구조대상자 답변 필수 구성 요소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0180" y="1600200"/>
            <a:ext cx="640080" cy="6400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401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</a:rPr>
              <a:t>공감 · 안심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</a:rPr>
              <a:t>"제가 함께 있어요"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46704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9684" y="16002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296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2828"/>
                </a:solidFill>
              </a:rPr>
              <a:t>위험 알림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"물이 금방 차오릅니다"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36208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19188" y="1600200"/>
            <a:ext cx="640080" cy="64008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191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구체 행동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"짐은 두고 계단으로 지상까지"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25712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08692" y="1600200"/>
            <a:ext cx="640080" cy="6400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869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26287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</a:rPr>
              <a:t>약속 · 연결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62872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</a:rPr>
              <a:t>"대피소까지 모셔다 드릴게요"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786384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</p:spPr>
      </p:sp>
      <p:pic>
        <p:nvPicPr>
          <p:cNvPr id="24" name="Image 0" descr="/home/claude/edu/img/npc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498848"/>
            <a:ext cx="1005840" cy="13075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920240" y="4114800"/>
            <a:ext cx="6217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5B6478"/>
                </a:solidFill>
              </a:rPr>
              <a:t>네 요소를 한 번에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어르신, 제가 함께 있어요.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62828"/>
                </a:solidFill>
              </a:rPr>
              <a:t>물이 금방 차오릅니다.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B2A4A"/>
                </a:solidFill>
              </a:rPr>
              <a:t>짐은 두고 계단으로 지상까지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나가요.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대피소까지 제가 모셔다 드릴게요.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595360" y="3931920"/>
            <a:ext cx="3139135" cy="2240280"/>
          </a:xfrm>
          <a:prstGeom prst="roundRect">
            <a:avLst>
              <a:gd name="adj" fmla="val 4898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823960" y="4114800"/>
            <a:ext cx="2681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쉬운 말 3원칙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4617720"/>
            <a:ext cx="26819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짧게 · 한 문장 한 가지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숫자 · 장소까지 구체적으로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행동과 이유를 함께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채점 기준 · 소통 파워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4" name="Image 0" descr="/home/claude/edu/img/npcgood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10512"/>
            <a:ext cx="822960" cy="1069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65C0"/>
                </a:solidFill>
              </a:rPr>
              <a:t>적정 답변</a:t>
            </a:r>
            <a:endParaRPr lang="en-US" sz="20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565C0"/>
                </a:solidFill>
              </a:rPr>
              <a:t>파워 +1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2개 이상 포함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공감 표현 + 구체 행동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최대 10점까지 상승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379976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6D9"/>
          </a:solidFill>
          <a:ln w="12700">
            <a:solidFill>
              <a:srgbClr val="FFF6D9"/>
            </a:solidFill>
            <a:prstDash val="solid"/>
          </a:ln>
        </p:spPr>
      </p:sp>
      <p:pic>
        <p:nvPicPr>
          <p:cNvPr id="8" name="Image 1" descr="/home/claude/edu/img/npc_f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810512"/>
            <a:ext cx="822960" cy="10698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14416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D00"/>
                </a:solidFill>
              </a:rPr>
              <a:t>미흡 답변</a:t>
            </a:r>
            <a:endParaRPr lang="en-US" sz="2000" dirty="0"/>
          </a:p>
          <a:p>
            <a:pPr indent="0" marL="0">
              <a:buNone/>
            </a:pPr>
            <a:r>
              <a:rPr lang="en-US" sz="2800" b="1" dirty="0">
                <a:solidFill>
                  <a:srgbClr val="8A6D00"/>
                </a:solidFill>
              </a:rPr>
              <a:t>파워 유지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654296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1개만 포함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또는 공감 표현만 있음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다음 문항에서 보완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302752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2" name="Image 2" descr="/home/claude/edu/img/npc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10512"/>
            <a:ext cx="822960" cy="10698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37192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2828"/>
                </a:solidFill>
              </a:rPr>
              <a:t>부족 답변</a:t>
            </a:r>
            <a:endParaRPr lang="en-US" sz="2000" dirty="0"/>
          </a:p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</a:rPr>
              <a:t>파워 −1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577072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없음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"몰라요" · "알아서" 같은 표현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6자 미만 짧은 답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5029200"/>
            <a:ext cx="11277295" cy="1143000"/>
          </a:xfrm>
          <a:prstGeom prst="roundRect">
            <a:avLst>
              <a:gd name="adj" fmla="val 9600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6" name="Image 3" descr="/home/claude/edu/img/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749808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37360" y="51663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관문 통과: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대화 8문항(구조대상자 5 · 기자 3) 뒤 파워 </a:t>
            </a:r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8 이상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·  7개 관문 모두 통과 → </a:t>
            </a:r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대한민국 재난소통 영웅 훈장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언론 답변 필수 구성 요소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9105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910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7160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</a:rPr>
              <a:t>확인된 사실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37160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433"/>
                </a:solidFill>
              </a:rPr>
              <a:t>언제 · 어디서 · 얼마나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82549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8254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60604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</a:rPr>
              <a:t>현재 조치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60604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433"/>
                </a:solidFill>
              </a:rPr>
              <a:t>구조 · 통제 · 지원 진행 상황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05993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059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048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</a:rPr>
              <a:t>시민 행동 안내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84048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433"/>
                </a:solidFill>
              </a:rPr>
              <a:t>지금 시민이 할 일 한 가지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507492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29437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507492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</a:rPr>
              <a:t>다음 발표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507492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433"/>
                </a:solidFill>
              </a:rPr>
              <a:t>브리핑 시각 · 문의 창구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26680" y="1371600"/>
            <a:ext cx="4007815" cy="4800600"/>
          </a:xfrm>
          <a:prstGeom prst="roundRect">
            <a:avLst>
              <a:gd name="adj" fmla="val 273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1000" y="1645920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1020" y="180594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778240" y="164592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3"/>
                </a:solidFill>
              </a:rPr>
              <a:t>피할 말</a:t>
            </a:r>
            <a:endParaRPr lang="en-US" sz="20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624328"/>
            <a:ext cx="292608" cy="29260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503920" y="25146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추측 · 단정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"방화로 보입니다"</a:t>
            </a:r>
            <a:endParaRPr lang="en-US" sz="16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3493008"/>
            <a:ext cx="292608" cy="29260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03920" y="338328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피해자 신상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이름 · 집 주소 · 사진</a:t>
            </a:r>
            <a:endParaRPr lang="en-US" sz="16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36168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503920" y="425196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"노코멘트"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대신 다음 발표 시각 안내</a:t>
            </a:r>
            <a:endParaRPr lang="en-US" sz="16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5230368"/>
            <a:ext cx="292608" cy="29260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503920" y="512064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책임 떠넘기기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"우리 소관이 아닙니다"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유형별 학습 · 35분 + 25분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재난 유형별 응대 요령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6"/>
                </a:solidFill>
              </a:rPr>
              <a:t>유형마다 구조대상자 응대 1장 → 게임 기자 질문 언론 응대 2~3장 → 행동요령</a:t>
            </a:r>
            <a:endParaRPr lang="en-US" sz="1600" dirty="0"/>
          </a:p>
        </p:txBody>
      </p:sp>
      <p:pic>
        <p:nvPicPr>
          <p:cNvPr id="5" name="Image 0" descr="/home/claude/edu/img/bg_fl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423160"/>
            <a:ext cx="265176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01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침수</a:t>
            </a:r>
            <a:endParaRPr lang="en-US" sz="1700" dirty="0"/>
          </a:p>
        </p:txBody>
      </p:sp>
      <p:pic>
        <p:nvPicPr>
          <p:cNvPr id="8" name="Image 1" descr="/home/claude/edu/img/bg_fir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2423160"/>
            <a:ext cx="2651760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28416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465576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02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화재</a:t>
            </a:r>
            <a:endParaRPr lang="en-US" sz="1700" dirty="0"/>
          </a:p>
        </p:txBody>
      </p:sp>
      <p:pic>
        <p:nvPicPr>
          <p:cNvPr id="11" name="Image 2" descr="/home/claude/edu/img/bg_quak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2423160"/>
            <a:ext cx="2651760" cy="1783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199632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36792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03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지진</a:t>
            </a:r>
            <a:endParaRPr lang="en-US" sz="1700" dirty="0"/>
          </a:p>
        </p:txBody>
      </p:sp>
      <p:pic>
        <p:nvPicPr>
          <p:cNvPr id="14" name="Image 3" descr="/home/claude/edu/img/bg_blas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70848" y="2423160"/>
            <a:ext cx="2651760" cy="17830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70848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208008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04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폭발</a:t>
            </a:r>
            <a:endParaRPr lang="en-US" sz="1700" dirty="0"/>
          </a:p>
        </p:txBody>
      </p:sp>
      <p:pic>
        <p:nvPicPr>
          <p:cNvPr id="17" name="Image 4" descr="/home/claude/edu/img/bg_heat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892808" y="4425696"/>
            <a:ext cx="2651760" cy="1783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892808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2029968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05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폭염</a:t>
            </a:r>
            <a:endParaRPr lang="en-US" sz="1700" dirty="0"/>
          </a:p>
        </p:txBody>
      </p:sp>
      <p:pic>
        <p:nvPicPr>
          <p:cNvPr id="20" name="Image 5" descr="/home/claude/edu/img/bg_collapse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4425696"/>
            <a:ext cx="2651760" cy="17830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764024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4901184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06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건물붕괴</a:t>
            </a:r>
            <a:endParaRPr lang="en-US" sz="1700" dirty="0"/>
          </a:p>
        </p:txBody>
      </p:sp>
      <p:pic>
        <p:nvPicPr>
          <p:cNvPr id="23" name="Image 6" descr="/home/claude/edu/img/bg_virus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635240" y="4425696"/>
            <a:ext cx="2651760" cy="1783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635240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7772400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07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감염병확산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· 반지하 빗물 역류 · 지하차도 침수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f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박준호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퇴근길 운전자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지하차도만 지나가면 금방인데, 그냥 가도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지하차도는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몇 분 만에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물이 차올라 차가 갇힙니다.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진입하지 마시고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지상 도로로 우회해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진입 금지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다른 길로 우회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급격한 침수 위험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김순자 어르신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반지하 거주 주민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아이고, 현관으로 물이 막 들어와요! 짐부터 챙겨야 하나요?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어르신, 짐은 두고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바로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나오셔야 합니다. 드시는 약과 신분증만 챙기시고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저와 함께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지상의 높은 곳으로 가요.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즉시 밖으로 대피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짐은 최소한만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지상·높은 곳으로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김순자 어르신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반지하 거주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이제 집은 어떻게 되는 거예요? 혼자 살아서 갈 데도 없어요.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혼자가 아니세요.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오늘은 주민센터 임시대피소에서 지내실 수 있고,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피해 신고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를 하시면 재난지원금과 복구 지원을 받으실 수 있어요. 신청은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 담당자와 함께 도와드릴게요.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임시 거처 안내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복구·지원 제도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혼자가 아님을 전달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① 반지하 거주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발령. 저지대 반지하 주택가로 빗물이 역류하고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반지하 주택 침수 피해 규모는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 확인된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침수 주택은 ○세대이고, 주민 ○명이 임시대피소로 대피했습니다.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배수 장비를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투입해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남은 세대를 확인 중이며, 정확한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집계는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브리핑에서 발표하겠습니다.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반지하 주민 대피 안내가 늦었다는 지적이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피해를 입으신 주민께 깊은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위로를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드립니다. 안내 시각과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조사해서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지금 반지하에 계신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주민께서는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지상으로 대피해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위로·공감   ② 경위 조사·공개 약속   ③ 지금 시민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이재민 지원은 어떻게 이뤄집니까?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주민센터 임시대피소에서 숙소와 구호물품을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지원하고 있습니다.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신고는 주민센터 창구에서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접수하며,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재난지원금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신청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방법은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 문자로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임시 거처·구호 지원   ② 피해 신고 창구   ③ 안내 방법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정다은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새벽일보 사회부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underpa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underpas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② 퇴근길 운전자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시간당 70mm 폭우. 지하차도 입구 앞, 차량들이 진입을 망설이고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지하차도에 갇힌 차량과 인명 피해는 확인됐습니까?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 확인된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고립 차량은 ○대이고 탑승자 ○명을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추가 고립 여부는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잠수 수색으로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 중이며,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않은 수치는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추측하지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수색 진행   ③ 추측하지 않기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왜 지하차도를 미리 통제하지 않았습니까?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시점과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조사해서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현재 시내 지하차도 ○곳을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차단했습니다. 운전자께서는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지하차도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진입을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지상 도로로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우회해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경위 조사·공개   ② 현재 통제 조치   ③ 운전자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침수 차량 보험 처리는 어떻게 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자동차보험 자기차량손해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담보에 가입하셨다면 침수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보상을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받으실 수 있습니다.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사진을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남겨 두시고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보험사에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접수해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 피해 사실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확인서는 구청에서 발급합니다.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보상 제도   ② 증빙 남기기   ③ 접수 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all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all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③ 계곡 야영객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산간 지역 호우주의보. 상류에 많은 비가 내렸지만 계곡은 아직 잔잔해 보입니다.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계곡 고립 야영객 구조 상황을 알려주십시오.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고립 인원 ○명 가운데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나머지 ○명은 위치를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확인했고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접근 중입니다.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끝나면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기상특보가 있었는데 왜 야영객이 남아 있었습니까?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확인해서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알려드리겠습니다. 지금은 인근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야영객 철수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안내와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순찰을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 시민께서는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호우특보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야영을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기상정보를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경위 확인 약속   ② 현재 조치   ③ 시민 당부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다른 계곡도 위험합니까?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 상류에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비가 이어져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○곳의 출입을 통제했습니다. 피서객께서는 물가 접근을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높은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곳으로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이동해 주십시오.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해제는 안내 문자로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현재 상황   ② 출입 통제   ③ 피서객 행동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lim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침수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지하차도·하천변·맨홀 근처 접근 금지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반지하·지하 공간 → 물 차기 전 즉시 지상으로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무릎 높이 물살 → 걸어서 건너기 금지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차량 침수 → 안전벨트 풀고 바로 탈출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재난문자·기상특보 수시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 · 전통시장 점포 화재 · 연기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정미영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아파트 15층 주민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윗집에서 연기가 나요! 엘리베이터 타고 내려가면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엘리베이터는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정전되면 갇히고 연기 통로가 됩니다. 젖은 수건으로 코와 입을 막고, 자세를 낮춰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계단으로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내려가세요.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엘리베이터 금지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계단으로 대피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낮은 자세·코입 가리기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h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최영길 사장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전통시장 상인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가게 물건 다 타요! 돈통이라도 가지고 나와야 해요!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다시 들어가시면 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연기 몇 모금에도 쓰러질 수 있어요. 물건은 화재보험과 복구 지원으로 다시 일으킬 수 있지만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사장님은 한 분뿐이에요.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다시 들어가지 않기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생명이 우선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보험·복구 지원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정미영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아파트 15층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아이가 너무 무서워서 울어요. 어떻게 달래요?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아이를 꼭 안고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"엄마가 옆에 있어, 소방관 아저씨가 곧 와"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라고 말해 주세요. 젖은 수건으로 입을 막고 엄마처럼 몸을 낮추자고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같이 해 보세요.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곁에서 안심시키기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아이가 할 행동 알려주기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구조대 오고 있음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① 아파트 15층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화재. 위층 세대에서 연기가 퍼지고 있다는 신고가 접수됐습니다.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몇 층에서 불이 났고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○시 ○분 ○층에서 불이 났습니다.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○명이 대피했고 ○명이 연기를 마셔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추가 내용은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화재 원인은 무엇입니까?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원인은 합동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 결과가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나온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발표하겠습니다.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진화와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남은 세대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집중하고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일정은 정해지면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지금 집중하는 일   ③ 다음 발표 시각·창구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아직 집 안에 있는 주민은 어떻게 해야 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엘리베이터를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쓰지 말고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계단으로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대피해 주십시오. 복도에 연기가 차 있으면 문을 닫고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젖은 수건으로 틈을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막은 뒤,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동·호수를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엘리베이터 금지·계단   ② 문 닫고 틈 막기   ③ 119에 위치 알리기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mar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② 전통시장 상인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전통시장 점포에서 불길이 시작됐습니다. 상인들이 우왕좌왕하고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시장 점포 몇 곳이 피해를 입었습니까?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점포 ○곳이 불에 탔고, 상인 ○명이 연기를 마셔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치료를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받고 있습니다. 잔불 정리가 끝나면 정확한 피해 규모를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발표하겠습니다.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부상자 치료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시장 소방시설이 제대로 작동했습니까?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소방시설 작동 여부는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점검으로 확인해서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결과를 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잔불 정리와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피해 상인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지원에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집중하고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결과 공개 약속   ③ 지금 집중하는 일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피해 상인 지원 대책이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피해 상인을 위한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긴급 생계비와 소상공인 복구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자금을 지원합니다. 시장 입구에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상담 창구를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열었고, 신청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일정은 문자로 안내드리겠습니다.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긴급 지원 제도   ② 현장 상담 창구   ③ 일정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wild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wild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③ 산간 마을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강풍 속 산불 확산. 마을 뒷산으로 불길이 번지며 대피 명령이 내려졌습니다.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산불 확산 범위와 진화율은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 진화율은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○%이고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면적은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약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○ha로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파악했습니다.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헬기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○대와 진화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인력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투입했습니다.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다음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○시입니다.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수치   ② 투입 인력·장비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대피한 주민은 몇 명이고 어디에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○명이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초등학교 체육관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등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○곳에 머물고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식사와 담요, 의료 지원을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대피 장소   ③ 생활 지원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산불 원인은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원인은 산림당국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후 발표하겠습니다. 시민께서는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입산과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쓰레기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소각을 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주시고,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불씨를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보면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예방 행동   ③ 발견 시 신고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fir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화재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"불이야" 외치고 119 신고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엘리베이터 금지 → 계단으로 대피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젖은 수건으로 코·입 막고 낮은 자세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복도 연기 → 문 닫고 틈 막은 뒤 구조 요청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대피 후 다시 들어가지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qu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quak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도심 규모 5.4 지진 · 동해 지진해일 경보 · 수업 중 지진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한지민 대리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사무실 직장인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건물이 흔들려요! 지금 바로 밖으로 뛰어나가야 해요?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뛰면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넘어지거나 낙하물에 다칩니다.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책상 아래로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들어가 다리를 꽉 잡고 머리를 보호하세요.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흔들림이 멈추면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그때 나갑니다.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책상 아래로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머리 보호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흔들림 멈춘 뒤 이동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e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윤태호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해변 관광객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바닷물이 갑자기 쭉 빠졌어요! 조개 주울 수 있겠는데요?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바닷물이 빠지는 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큰 해일이 곧 밀려온다는 신호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입니다.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당장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해안에서 벗어나 높은 곳으로 뛰세요.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해일 전조 경고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지금 즉시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해안에서 멀리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e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강수진 선생님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초등학교 담임교사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아이들이 무서워서 밤에 못 잘 것 같대요.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무서운 마음은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누구나 드는 당연한 반응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이라고 말해 주세요. 그림이나 이야기로 마음을 꺼내게 해 주시고, 오래가면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위클래스나 심리지원센터와 연결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할 수 있어요.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정상적인 반응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이야기·표현 돕기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전문 상담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off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offi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① 사무실 직장인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규모 5.4 지진 발생. 도심 오피스 빌딩이 크게 흔들리고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건물 피해와 부상자 규모는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부상자 ○명이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외벽 유리가 깨진 건물 ○곳을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확인했습니다.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건물별로 남은 사람을 확인 중이며, ○시에 다시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직장인들은 언제 건물로 돌아가도 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건물별 안전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끝나야 들어가실 수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결과는 구청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관리자를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통해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 전까지는 건물에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들어가지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말고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공터에서 대기해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 점검 뒤 복귀   ② 공식 안내 방법   ③ 그 전까지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추가 지진 가능성은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여진 가능성은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기상청 공식 발표를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기준으로 안내드리겠습니다. 흔들리면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탁자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아래에서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머리를 보호하고,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멈추면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공터로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이동해 주십시오.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재난문자도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계속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공식 출처   ② 여진 때 행동   ③ 정보 확인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tsunam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tsunam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② 해변 관광객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동해 해역 규모 6.8 지진. 지진해일 경보가 발령됐습니다.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해일 피해 지역과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해안 마을 ○곳이 침수됐고 실종 신고는 ○건입니다.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해경과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해안을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수색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않은 피해는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추측하지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수색 진행   ③ 추측하지 않기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해안 주민은 언제 돌아갈 수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지진해일은 여러 번 올 수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경보가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공식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해제될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때까지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대피소와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높은 곳에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머물러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해제되면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재난문자로 바로 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경보 해제 기준   ② 반복 해일 위험   ③ 대피 유지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외국인 관광객 안내는 어떻게 하고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영어·중국어·일본어 안내 방송을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관광통역 1330과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연계해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요원을 배치했습니다. 주변 시민께서도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외국인 관광객이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함께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대피하도록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도와주십시오.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다국어 안내   ② 현장 요원 배치   ③ 시민 협조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schoo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③ 초등학교 담임교사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수업 중 지진 발생. 4층 교실의 학생 26명이 동요하고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학생들 피해는 없습니까?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학생 ○명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운동장으로 대피했고,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부상 학생 ○명은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보건실에서 응급처치를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받았습니다.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방법은 학교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안내드리겠습니다.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대피·응급처치   ③ 귀가 안내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학부모들이 학교로 몰리고 있습니다. 어떻게 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학생은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명단으로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확인한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보호자에게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한 명씩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인계합니다. 인계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장소와 시간은 학교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안내드리니, 정문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앞에서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차분히 순서를 기다려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보호자 인계 절차   ② 안내 창구   ③ 현장 질서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학교 건물 안전은 확인됐습니까?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전문가가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안전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있고 결과는 교육청이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 점검이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끝날 때까지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등교는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멈추고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원격수업으로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운영합니다.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 점검   ② 결과 공개   ③ 수업 운영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polic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지진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흔들릴 때 → 탁자 아래, 머리 보호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멈춘 뒤 → 계단으로, 넓은 공터로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건물 외벽·간판·유리창 아래 피하기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해안 → 지진해일 경보 즉시 높은 곳으로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여진 대비, 기상청·재난문자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주택 가스 누출 의심 · 화학공장 폭발 · 유독가스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서경민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다세대주택 주민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집에서 가스 냄새가 나요! 불 켜서 확인해볼까요?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절대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전등 스위치나 라이터를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켜지 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작은 불꽃에도 폭발합니다. 가스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중간밸브를 잠그고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창문을 열어 환기해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전기·불꽃 금지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중간밸브 잠그기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창문 열어 환기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서경민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다세대주택 주민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옆집에도 알려줘야 할까요? 초인종 누르면 되죠?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초인종은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전기 스파크가 생겨 위험해요. 문을 두드리거나 큰 소리로 이웃에게 알려서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함께 대피하세요.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초인종 금지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노크·말로 알리기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이웃 대피 안내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b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임하나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산업단지 인근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아이가 학교에 있는데 데리러 가야 하나요?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학교에서 아이들을 실내에 보호하고 있어요.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지금 밖을 이동하시는 게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더 위험합니다.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학교 문자와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재난문자 안내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를 확인하며 기다려 주세요.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학교 보호 조치 안내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이동 자제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공식 안내 확인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gaslea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gasl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언론 응대 ① 다세대주택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주거지 가스 누출 의심 신고. 폭발 위험이 있어 긴급 출동했습니다.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가스 누출 원인은 무엇입니까?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원인은 가스안전공사 점검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결과가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나오면 발표하겠습니다. 현재 공급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밸브를 차단했고,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주민 ○명의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대피를 확인했습니다.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현재 조치   ③ 확인된 사실(언제·어디·얼마나)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인근 주민들은 무엇을 조심해야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주변에서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담배와 라이터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같은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화기를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쓰지 말아 주십시오.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안으로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다가오지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마시고, 가스 냄새가 나면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119나 도시가스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회사에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불꽃·전기 금지   ② 현장 접근 금지   ③ 냄새 나면 신고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주민들은 언제 집에 돌아갈 수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누설 점검으로 안전을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확인한 뒤 복귀하실 수 있습니다. 복귀 시각은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알려드리고,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그동안 주민센터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임시 대피소를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이용하실 수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점검 뒤 복귀   ② 안내 방법   ③ 임시 지원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언론 응대 ② 산업단지 인근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인근 화학공장에서 폭발이 발생했습니다. 검은 연기가 주거지 쪽으로 흐릅니다.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폭발로 인한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공장 근로자 ○명이 다쳐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연락이 닿지 않는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수색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중입니다. 확인되는 대로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어떤 화학물질이 유출됐습니까? 주민 건강은 괜찮습니까?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유출 물질은 환경당국이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분석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 결과가 나오는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 전까지 인근 주민께서는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실내에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머물고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창문을 닫아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측정·분석 진행   ② 결과 공개   ③ 실내 대피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공장 안전관리에 문제가 있었던 것 아닙니까?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안전관리 문제는 합동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밝혀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실종자 수색과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안전 확보가 가장 먼저입니다.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공개 약속   ③ 지금 우선순위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gov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폭발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가스 냄새 → 스위치·라이터·초인종 금지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중간밸브 잠그고 창문 열어 환기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밖으로 나온 뒤 119·도시가스 신고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화학 폭발 → 실내 대피, 창문 닫고 환기장치 끄기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현장 접근·촬영 금지 (2차 폭발 위험)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he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h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 체감 37℃ · 열대야 · 차 안 아이 방치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유민재 아빠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아이 동반 보호자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잠깐 장 보고 올게요. 아이는 에어컨 켜고 차에 두면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절대 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시동이 꺼지거나 에어컨이 멈추면 차 안은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몇 분 만에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위험한 온도가 돼요. 짧은 시간이라도 아이를 꼭 데리고 가세요.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절대 혼자 두지 않기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차 안 온도 급상승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아이와 함께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w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조성훈 반장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건설현장 노동자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동료가 쓰러졌는데 말을 이상하게 해요!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바로 119에 신고하세요.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시원한 곳으로 옮겨 옷을 풀고 물을 적셔 부채질해 주세요.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의식이 흐리면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물을 억지로 먹이면 안 됩니다.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119 신고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몸 식히기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의식 없으면 물 먹이지 않기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w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남복례 어르신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혼자 사는 어르신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자식들이 멀리 살아서 연락할 사람이 없어요.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혼자가 아니세요.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노인맞춤돌봄서비스로 생활지원사가 안부를 챙기러 오고, 응급안전 장치도 달 수 있어요.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 오늘 신청을 도와드릴게요.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돌봄·안부 서비스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응급 연락 수단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외로움 공감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nstr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nstruc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① 건설현장 노동자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폭염경보, 체감온도 37도. 그늘 없는 건설현장에서 작업이 계속되고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건설현장 온열질환자 발생 상황은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오늘 이 현장에서 근로자 ○명이 온열질환 증상으로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병원에 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현재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치료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중입니다. 지역 전체 현황은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 집계로 매일 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치료·이송   ③ 공식 집계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폭염 속 작업 중지 기준이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매시간 그늘 휴식은 산업안전보건 규칙에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따른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사업주 의무입니다. 오후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2~5시에는 작업을 줄이도록 지도하고 있으며, 지켜지지 않으면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고용노동부 1350으로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휴식 기준   ② 사업주 의무   ③ 신고 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근로자들에게 당부할 말은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목마르지 않아도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물을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자주 드시고,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어지럽거나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메스꺼우면 바로 작업을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멈추고 그늘에서 쉬십시오.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동료가 쓰러지면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물 자주 마시기   ② 증상 있으면 작업 중지   ③ 쓰러지면 119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정다은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새벽일보 사회부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roof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rooft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② 혼자 사는 어르신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열흘째 열대야. 옥탑방에 사는 어르신 댁을 방문했습니다.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홀로 사는 어르신 안부 확인은 어떻게 하고 있습니까?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홀로 사는 어르신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생활지원사가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하루 두 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전화와 방문으로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응급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상황이면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연계해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돌봄 조치   ③ 응급 연계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무더위쉼터는 충분합니까?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무더위쉼터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○곳을 밤 9시까지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연장 운영합니다. 위치는 안전디딤돌 앱과 주민센터에서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확인하실 수 있고, 거동이 불편한 어르신은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차량으로 모셔다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드립니다.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운영 현황   ② 위치 안내   ③ 이동 지원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전기요금 부담으로 냉방을 못 하는 가구 대책은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에너지바우처로 냉방비를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지원하고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주민센터에서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신청하실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수 있고, 그 사이에는 가까운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경로당 무더위쉼터를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이용해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요금 지원   ② 신청 방법   ③ 대안 공간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par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par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③ 아이 동반 보호자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폭염주의보. 대형마트 주차장, 한낮 기온 35도입니다.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안에 아이가 남겨진 사고가 있었다는데 상태는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아이는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병원으로 이송돼 치료를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받고 있으며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 의식이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 보호자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신상은 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 짧은 시간이라도 아이를 차 안에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혼자 두지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말아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상태   ② 개인정보 보호   ③ 시민 당부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 온도는 얼마나 빨리 올라갑니까?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한여름 차 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온도는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몇 분 만에 위험 수준으로 오른다는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소방 실험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결과가 있습니다. 내리기 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뒷좌석을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확인하고,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아이와 반려동물을 함께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데리고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내려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위험 정보   ② 근거 출처   ③ 행동 당부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안에 갇힌 아이를 보면 시민은 어떻게 해야 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 위급하면 아이와 먼 쪽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창문을 깨서 구조할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수 있고, 꺼낸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그늘에서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몸을 식혀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즉시 신고   ② 구조 방법   ③ 꺼낸 뒤 체온 낮추기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blu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폭염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목마르지 않아도 물 조금씩 자주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오후 2~5시 야외 작업·활동 줄이기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어지러움·메스꺼움 → 즉시 그늘에서 휴식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땀 멈춤·뜨거운 피부 → 열사병 의심, 119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아이·어르신 차 안에 혼자 두지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 · 매몰자 전화 연결 · 통제선 앞 시민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신동욱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매몰 생존자 (전화 연결)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건물이 무너졌어요… 다리가 깔렸어요. 너무 아파요.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지금 구조대가 찾고 있어요.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다리를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억지로 빼려고 하지 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주변에 뭐가 보이는지, 지금 몸 상태가 어떤지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천천히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말해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구조 진행 중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무리하게 빼지 않기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위치·상태 파악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c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김도윤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현장 목격 시민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제가 들어가서 사람 꺼낼게요!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마음은 정말 고맙지만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추가 붕괴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로 두 분 다 다칠 수 있어요. 구조는 전문 구조대에 맡기시고, 대신 본 것을 저에게 알려주시면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큰 도움이 됩니다.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진입 금지·추가 붕괴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전문 구조대에 맡기기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대신 할 일 부여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신동욱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매몰 생존자 (전화 연결)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저 정말 살 수 있을까요? 가족이 보고 싶어요.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포기하지 마세요. 구조대가 반드시 구할 거예요.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가족분께 하고 싶은 말은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 꼭 전해 드릴게요.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끝까지 제가 같이 있겠습니다.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희망 주기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가족에게 전달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곁에 있음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① 매몰 생존자 (전화 연결)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붕괴. 잔해 아래 갇힌 생존자와 전화가 연결됐습니다.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매몰자는 몇 명이고 생존 가능성은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연락이 닿지 않는 분은 ○명입니다.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구조대는 생존자가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있다는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전제로 수색하고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가족분들께는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가족지원실에서 먼저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알려드립니다.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생존 전제 수색   ③ 가족 먼저 안내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매몰자와 통화가 됐다는데 사실입니까?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매몰자 한 분과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통화가 연결된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사실을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확인했습니다. 신상은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가족 동의 없이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구조대가 위치를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좁혀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진입로를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확보하고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범위   ② 개인정보 보호   ③ 구조 진행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구조는 언제 끝납니까?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추가 붕괴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위험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때문에 끝나는 시간을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단정하기 어렵습니다.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현재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중장비와 구조견을 투입해 작업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 진행 상황은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브리핑에서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시간 단정하지 않기   ② 작업 진행 상황   ③ 다음 발표 시각·창구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② 현장 목격 시민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붕괴 현장 주변. 시민들이 몰려들어 통제선 안으로 들어가려 합니다.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현장에 시민들이 몰려 구조에 방해가 된다는데요?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시민 여러분께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통제선 밖으로 물러나 주시길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부탁드립니다. 추가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붕괴 위험이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구조차량 길을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비워야 합니다.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목격 정보가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있으면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안내소에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통제선 밖으로   ② 이유 설명   ③ 도울 방법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SNS에 현장 영상이 퍼지고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피해자와 가족 보호를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위해 현장 영상 게시를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 정확한 정보는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공식 브리핑으로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게시 자제   ② 피해자 보호   ③ 공식 정보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기부와 자원봉사는 어떻게 할 수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기부는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지자체와 적십자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같은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공식 창구로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 주십시오. 물품은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필요한 품목을 확인한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뒤 보내 주시고,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헌혈은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가까운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헌혈의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집에서 하실 수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공식 창구   ② 필요 품목 확인   ③ 헌혈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oldap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olda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③ 노후 아파트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노후 아파트에서 "뚝뚝" 소리와 함께 벽에 균열이 번지고 있다는 신고입니다.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아파트 붕괴 위험은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전문가가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긴급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안전진단을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 현재 주민 ○세대 전원이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대피했고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출입을 통제했습니다. 진단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결과는 구청이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안전진단 진행   ② 현재 조치   ③ 결과 공개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주민들은 어디서 지냅니까?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주민은 인근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임시 숙소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○곳에서 지내고 있으며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식사와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생활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물품을 지원합니다. 문의는 구청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상황실 창구로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임시 거처   ② 생활 지원   ③ 문의 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관리 책임은 누구에게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책임은 원인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밝혀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그와 별도로 주민 피해 접수와 무료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법률 상담을 지원하고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공개 약속   ③ 주민 지원 우선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fir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건물붕괴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균열·뚝뚝 소리·문 뒤틀림 → 즉시 대피, 신고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매몰 시 체력 아끼기, 벽·파이프 두드려 신호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라이터·불꽃 금지 (가스 누출 가능)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현장 진입·촬영·SNS 게시 자제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안전진단 전 건물 출입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심각 단계 · 요양원 면회 중단 · 소문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백승민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의심 증상 직장인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열나고 기침해요. 그냥 출근해도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출근하지 마시고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집에 계세요.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1339나 보건소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에 상담하고 검사를 받으세요. 이동할 땐 마스크를 쓰고 사람 접촉을 줄여야 합니다.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출근 자제·자택 대기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검사·상담 안내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마스크·접촉 줄이기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백승민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의심 증상 직장인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확진되면 회사에서 잘릴까 봐 무서워요.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걱정되시는 게 당연해요.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감염병으로 쉬는 걸 이유로 불이익을 주는 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보호받을 수 있는 문제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입니다. 생활지원과 유급휴가 지원도 있고,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고용노동부 1350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에서 상담받을 수 있어요.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불이익 금지 권리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생활·유급휴가 지원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노동 상담 창구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</a:rPr>
              <a:t>홍지수 씨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요양원 입소자 보호자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면회 금지라니요! 엄마 얼굴이라도 봐야겠어요!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어머님 보고 싶으신 마음 잘 압니다.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어르신들은 감염되면 위험해서 면회를 잠시 막은 거예요.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오늘 영상통화를 연결해 드리고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, 해제되면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바로 안내드릴게요.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금지 이유 설명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비대면 대안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기간·해제 안내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① 의심 증상 직장인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'심각' 단계. 증상이 있는 시민이 상담 부스를 찾았습니다.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오늘 확진자는 몇 명입니까?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오늘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우리 지역 확진자는 ○명입니다. 수치는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 집계 기준이며 매일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공식 출처   ③ 정기 공개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증상이 있는 시민은 어떻게 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출근과 외출을 자제하고 1339나 보건소에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상담한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검사를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받아 주십시오. 이동할 때는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마스크를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접촉을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줄여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외출·출근 자제   ② 상담·검사   ③ 예방 수칙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쉬면 불이익을 받을까 걱정하는 직장인이 많습니다.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감염병으로 쉬는 근로자에게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불이익을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주면 안 됩니다.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유급휴가와 생활지원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제도가 있고,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고용노동부 1350에서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상담과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불이익 금지   ② 지원 제도   ③ 상담 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nur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nurs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② 요양원 입소자 보호자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요양원 집단감염 우려로 면회가 전면 중단됐습니다. 보호자가 현장을 찾았습니다.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요양원 집단감염 규모는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입소자 ○명과 직원 ○명이 확진됐습니다. 확진자는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전담병원으로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옮기거나 시설 안에서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격리 치료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 추가 결과는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격리·치료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면회 금지가 너무 가혹하다는 보호자 불만이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보호자분들 마음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충분히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이해합니다.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어르신들은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감염되면 위험해서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면회를 잠시 멈췄습니다.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영상통화와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정기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연락으로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상태를 알려드리고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보호자 공감   ② 금지 이유   ③ 비대면 대안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다른 요양시설은 안전합니까?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지역 요양시설 ○곳의 종사자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전수 검사와 방역 점검을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 결과는 나오는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전수 검사·점검   ② 방역 조치   ③ 결과 공개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neighborh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84815" cy="1280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484815" cy="128016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neighborh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815" y="0"/>
            <a:ext cx="1706880" cy="1280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③ 동네 단톡방 운영자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86384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8F4"/>
                </a:solidFill>
              </a:rPr>
              <a:t>지역 확진자 발생 후 근거 없는 소문과 동선 정보가 퍼지고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확진자 동선과 신상을 공개해 주십시오.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개인을 알아볼 수 있는 정보는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가능성이 있는 분께는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보건소가 직접 연락드립니다. 증상이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있으면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1339 상담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검사를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받아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개인정보 보호   ② 보건소 직접 연락   ③ 시민 행동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가짜뉴스가 퍼지고 있는데 대응은 어떻게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사실과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다른 정보는 확인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바로잡아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발표하고 있습니다. 정확한 내용은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시청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홈페이지를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확인해 주시고, 출처가 불분명한 정보는 공유를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사실 바로잡기   ② 공식 출처   ③ 유포 자제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특정 가게가 낙인찍혀 피해를 보고 있습니다.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확진자가 다녀간 가게는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소독을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마쳐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안전합니다.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근거 없는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비난과 낙인을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멈춰 주시길 부탁드립니다.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상인 지원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방안도 마련하고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방역 완료 안내   ② 낙인·비난 멈추기   ③ 상인 지원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gov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감염병확산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증상 → 출근·등교 자제, 1339·보건소 상담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마스크·손씻기·자주 환기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가족과 방·수건·식기 따로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공식 출처 확인, 가짜뉴스 공유 금지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확진자 비난·신상 공개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실습 · 재난소통 영웅 도전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4" name="Image 0" descr="/home/claude/edu/img/scr_set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196596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대원 만들기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569464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7" name="Image 1" descr="/home/claude/edu/img/scr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24328" y="1417320"/>
            <a:ext cx="1965960" cy="3931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현장 고르기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736592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0" name="Image 2" descr="/home/claude/edu/img/scr_pla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91456" y="1417320"/>
            <a:ext cx="1965960" cy="3931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91456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8번 대화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7141464" y="1508760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141464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7872984" y="1371600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</a:rPr>
              <a:t>QR 접속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마지막 장 QR 또는 주소 입력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141464" y="2404872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41464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872984" y="2267712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</a:rPr>
              <a:t>대원 만들기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이름 · 성별 · 복장 선택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7141464" y="3300984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141464" y="33009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7872984" y="3163824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</a:rPr>
              <a:t>인증번호 신청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랭킹 참여 시 이름 · 이메일 입력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141464" y="4197096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141464" y="4197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7872984" y="4059936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</a:rPr>
              <a:t>8번 대화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구조대상자 5번 · 취재 기자 3번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141464" y="5093208"/>
            <a:ext cx="548640" cy="54864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141464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829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7872984" y="4956048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</a:rPr>
              <a:t>관문 통과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파워 8 이상 → 다음 재난으로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7141464" y="5870448"/>
            <a:ext cx="4593031" cy="457200"/>
          </a:xfrm>
          <a:prstGeom prst="roundRect">
            <a:avLst>
              <a:gd name="adj" fmla="val 2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324344" y="5870448"/>
            <a:ext cx="42272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5A00"/>
                </a:solidFill>
              </a:rPr>
              <a:t>팀 미션 · 20분 안에 관문 3개 통과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응대 요령 자가 점검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1391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37160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65C0"/>
                </a:solidFill>
              </a:rPr>
              <a:t>첫마디에 안심 한마디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"제가 함께 있어요" · "곧 구조대가 와요"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57403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33172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위험 단어는 짧고 분명하게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"지금 바로" · "절대 켜지 마세요"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53415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329184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행동은 장소 · 방법까지 구체적으로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"짐은 두고 계단으로 지상까지"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449427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425196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65C0"/>
                </a:solidFill>
              </a:rPr>
              <a:t>끝은 약속 · 연결로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"신청은 제가 도와드릴게요"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521208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545439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521208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</a:rPr>
              <a:t>언론에는 확인된 사실 + 다음 발표 시각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"확인되지 않은 수치는 추측하지 않겠습니다"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915400" y="1371600"/>
            <a:ext cx="2819095" cy="4727448"/>
          </a:xfrm>
          <a:prstGeom prst="roundRect">
            <a:avLst>
              <a:gd name="adj" fmla="val 3892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9" name="Image 0" descr="/home/claude/edu/img/me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1988" y="1691640"/>
            <a:ext cx="1645920" cy="201168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98280" y="3886200"/>
            <a:ext cx="2453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다섯 칸 모두 체크 =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B020"/>
                </a:solidFill>
              </a:rPr>
              <a:t>재난소통 영웅 준비 완료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98280" y="4937760"/>
            <a:ext cx="2453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1E6"/>
                </a:solidFill>
              </a:rPr>
              <a:t>게임 7개 관문 통과로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dark_fl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9">
              <a:alpha val="75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9D1E6"/>
                </a:solidFill>
              </a:rPr>
              <a:t>KOREA CONTENTS LAB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1887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지금 접속해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B020"/>
                </a:solidFill>
              </a:rPr>
              <a:t>훈련을 시작하세요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0632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3E8F4"/>
                </a:solidFill>
              </a:rPr>
              <a:t>휴대폰 카메라로 QR을 비추면 게임이 열립니다.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3E8F4"/>
                </a:solidFill>
              </a:rPr>
              <a:t>인증번호를 신청하면 랭킹에 이름이 올라갑니다.</a:t>
            </a:r>
            <a:endParaRPr lang="en-US" sz="1700" dirty="0"/>
          </a:p>
        </p:txBody>
      </p:sp>
      <p:sp>
        <p:nvSpPr>
          <p:cNvPr id="7" name="Text 4">
            <a:hlinkClick r:id="rId2" tooltip=""/>
          </p:cNvPr>
          <p:cNvSpPr txBox="1"/>
          <p:nvPr/>
        </p:nvSpPr>
        <p:spPr>
          <a:xfrm>
            <a:off x="731520" y="4069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FFB020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https://ktvwin-pixel.github.io/disaster-game/</a:t>
            </a:r>
            <a:endParaRPr lang="en-US" sz="1800" dirty="0"/>
          </a:p>
        </p:txBody>
      </p:sp>
      <p:pic>
        <p:nvPicPr>
          <p:cNvPr id="8" name="Image 1" descr="/home/claude/edu/img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914400" cy="11155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47548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7개 관문 통과 →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대한민국 재난소통 영웅 훈장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7543800" y="960120"/>
            <a:ext cx="3931920" cy="49377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2" descr="/home/claude/edu/img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325880"/>
            <a:ext cx="3108960" cy="3108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43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3"/>
                </a:solidFill>
              </a:rPr>
              <a:t>재난소통 영웅 게임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543800" y="4983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스캔하여 바로 접속</a:t>
            </a:r>
            <a:endParaRPr lang="en-US" sz="1400" dirty="0"/>
          </a:p>
        </p:txBody>
      </p:sp>
      <p:pic>
        <p:nvPicPr>
          <p:cNvPr id="14" name="Image 3" descr="/home/claude/edu/img/me_lime_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754880"/>
            <a:ext cx="914400" cy="1188720"/>
          </a:xfrm>
          <a:prstGeom prst="rect">
            <a:avLst/>
          </a:prstGeom>
        </p:spPr>
      </p:pic>
      <p:pic>
        <p:nvPicPr>
          <p:cNvPr id="15" name="Image 4" descr="/home/claude/edu/img/me_fir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4754880"/>
            <a:ext cx="914400" cy="1188720"/>
          </a:xfrm>
          <a:prstGeom prst="rect">
            <a:avLst/>
          </a:prstGeom>
        </p:spPr>
      </p:pic>
      <p:pic>
        <p:nvPicPr>
          <p:cNvPr id="16" name="Image 5" descr="/home/claude/edu/img/me_police_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754880"/>
            <a:ext cx="914400" cy="11887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3152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© 2026 KOREA CONTENTS LAB.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재난소통 영웅">
  <a:themeElements>
    <a:clrScheme name="재난소통 영웅">
      <a:dk1>
        <a:srgbClr val="1F2433"/>
      </a:dk1>
      <a:lt1>
        <a:srgbClr val="FFFFFF"/>
      </a:lt1>
      <a:dk2>
        <a:srgbClr val="121829"/>
      </a:dk2>
      <a:lt2>
        <a:srgbClr val="F3F4F7"/>
      </a:lt2>
      <a:accent1>
        <a:srgbClr val="FFB020"/>
      </a:accent1>
      <a:accent2>
        <a:srgbClr val="C62828"/>
      </a:accent2>
      <a:accent3>
        <a:srgbClr val="1565C0"/>
      </a:accent3>
      <a:accent4>
        <a:srgbClr val="2E7D32"/>
      </a:accent4>
      <a:accent5>
        <a:srgbClr val="1B2A4A"/>
      </a:accent5>
      <a:accent6>
        <a:srgbClr val="6B7280"/>
      </a:accent6>
      <a:hlink>
        <a:srgbClr val="1565C0"/>
      </a:hlink>
      <a:folHlink>
        <a:srgbClr val="6A1B9A"/>
      </a:folHlink>
    </a:clrScheme>
    <a:fontScheme name="재난소통 영웅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KOREA CONTENTS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재난소통 영웅 교육안</dc:title>
  <dc:subject>PptxGenJS Presentation</dc:subject>
  <dc:creator>KOREA CONTENTS LAB</dc:creator>
  <cp:lastModifiedBy>KOREA CONTENTS LAB</cp:lastModifiedBy>
  <cp:revision>1</cp:revision>
  <dcterms:created xsi:type="dcterms:W3CDTF">2026-10-24T04:27:57Z</dcterms:created>
  <dcterms:modified xsi:type="dcterms:W3CDTF">2026-10-24T04:27:57Z</dcterms:modified>
</cp:coreProperties>
</file>